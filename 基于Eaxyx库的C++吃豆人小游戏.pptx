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7" r:id="rId2"/>
    <p:sldId id="258" r:id="rId3"/>
    <p:sldId id="259" r:id="rId4"/>
    <p:sldId id="260" r:id="rId5"/>
    <p:sldId id="261" r:id="rId6"/>
    <p:sldId id="268" r:id="rId7"/>
    <p:sldId id="269" r:id="rId8"/>
    <p:sldId id="262" r:id="rId9"/>
    <p:sldId id="263" r:id="rId10"/>
    <p:sldId id="270" r:id="rId11"/>
    <p:sldId id="264" r:id="rId12"/>
    <p:sldId id="275" r:id="rId13"/>
    <p:sldId id="271" r:id="rId14"/>
    <p:sldId id="265" r:id="rId15"/>
    <p:sldId id="266" r:id="rId16"/>
    <p:sldId id="272" r:id="rId17"/>
    <p:sldId id="273" r:id="rId18"/>
    <p:sldId id="274"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B8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4" autoAdjust="0"/>
    <p:restoredTop sz="94660"/>
  </p:normalViewPr>
  <p:slideViewPr>
    <p:cSldViewPr snapToGrid="0" showGuides="1">
      <p:cViewPr varScale="1">
        <p:scale>
          <a:sx n="100" d="100"/>
          <a:sy n="100" d="100"/>
        </p:scale>
        <p:origin x="452" y="6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B89A0-07EA-432F-A0DE-7BA84E2AB18B}" type="datetimeFigureOut">
              <a:rPr lang="zh-CN" altLang="en-US" smtClean="0"/>
              <a:t>2025/6/3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D13CAC-D4BD-44FC-AB4F-A5B74F54BEDE}" type="slidenum">
              <a:rPr lang="zh-CN" altLang="en-US" smtClean="0"/>
              <a:t>‹#›</a:t>
            </a:fld>
            <a:endParaRPr lang="zh-CN" altLang="en-US"/>
          </a:p>
        </p:txBody>
      </p:sp>
    </p:spTree>
    <p:extLst>
      <p:ext uri="{BB962C8B-B14F-4D97-AF65-F5344CB8AC3E}">
        <p14:creationId xmlns:p14="http://schemas.microsoft.com/office/powerpoint/2010/main" val="2814033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AD13CAC-D4BD-44FC-AB4F-A5B74F54BEDE}" type="slidenum">
              <a:rPr lang="zh-CN" altLang="en-US" smtClean="0"/>
              <a:t>18</a:t>
            </a:fld>
            <a:endParaRPr lang="zh-CN" altLang="en-US"/>
          </a:p>
        </p:txBody>
      </p:sp>
    </p:spTree>
    <p:extLst>
      <p:ext uri="{BB962C8B-B14F-4D97-AF65-F5344CB8AC3E}">
        <p14:creationId xmlns:p14="http://schemas.microsoft.com/office/powerpoint/2010/main" val="3082990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A07209-9A20-847D-D109-25CD9396D00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7A4C1DA-FC1B-F6AB-0623-F932D3C89A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65CA85F8-1326-C827-54E2-089BF445C6D3}"/>
              </a:ext>
            </a:extLst>
          </p:cNvPr>
          <p:cNvSpPr>
            <a:spLocks noGrp="1"/>
          </p:cNvSpPr>
          <p:nvPr>
            <p:ph type="dt" sz="half" idx="10"/>
          </p:nvPr>
        </p:nvSpPr>
        <p:spPr/>
        <p:txBody>
          <a:bodyPr/>
          <a:lstStyle/>
          <a:p>
            <a:fld id="{48221EF1-B722-4958-A8C2-5832E0C4A1F7}" type="datetimeFigureOut">
              <a:rPr lang="zh-CN" altLang="en-US" smtClean="0"/>
              <a:t>2025/6/3</a:t>
            </a:fld>
            <a:endParaRPr lang="zh-CN" altLang="en-US"/>
          </a:p>
        </p:txBody>
      </p:sp>
      <p:sp>
        <p:nvSpPr>
          <p:cNvPr id="5" name="页脚占位符 4">
            <a:extLst>
              <a:ext uri="{FF2B5EF4-FFF2-40B4-BE49-F238E27FC236}">
                <a16:creationId xmlns:a16="http://schemas.microsoft.com/office/drawing/2014/main" id="{ED31A087-181A-5CC9-147E-FE364350A28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1F9B81D-3EAC-B97C-0ED2-F4362EDC63E1}"/>
              </a:ext>
            </a:extLst>
          </p:cNvPr>
          <p:cNvSpPr>
            <a:spLocks noGrp="1"/>
          </p:cNvSpPr>
          <p:nvPr>
            <p:ph type="sldNum" sz="quarter" idx="12"/>
          </p:nvPr>
        </p:nvSpPr>
        <p:spPr/>
        <p:txBody>
          <a:bodyPr/>
          <a:lstStyle/>
          <a:p>
            <a:fld id="{FD9C7B38-3754-4AB0-90E6-6D985966E5DA}" type="slidenum">
              <a:rPr lang="zh-CN" altLang="en-US" smtClean="0"/>
              <a:t>‹#›</a:t>
            </a:fld>
            <a:endParaRPr lang="zh-CN" altLang="en-US"/>
          </a:p>
        </p:txBody>
      </p:sp>
    </p:spTree>
    <p:extLst>
      <p:ext uri="{BB962C8B-B14F-4D97-AF65-F5344CB8AC3E}">
        <p14:creationId xmlns:p14="http://schemas.microsoft.com/office/powerpoint/2010/main" val="143810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070EB3-07F1-AEE6-3A29-5951E864B8B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C0A783D-B40D-984A-7E71-794B19F1838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3ADA5F5-1451-53D5-58BC-90B17F3929CF}"/>
              </a:ext>
            </a:extLst>
          </p:cNvPr>
          <p:cNvSpPr>
            <a:spLocks noGrp="1"/>
          </p:cNvSpPr>
          <p:nvPr>
            <p:ph type="dt" sz="half" idx="10"/>
          </p:nvPr>
        </p:nvSpPr>
        <p:spPr/>
        <p:txBody>
          <a:bodyPr/>
          <a:lstStyle/>
          <a:p>
            <a:fld id="{48221EF1-B722-4958-A8C2-5832E0C4A1F7}" type="datetimeFigureOut">
              <a:rPr lang="zh-CN" altLang="en-US" smtClean="0"/>
              <a:t>2025/6/3</a:t>
            </a:fld>
            <a:endParaRPr lang="zh-CN" altLang="en-US"/>
          </a:p>
        </p:txBody>
      </p:sp>
      <p:sp>
        <p:nvSpPr>
          <p:cNvPr id="5" name="页脚占位符 4">
            <a:extLst>
              <a:ext uri="{FF2B5EF4-FFF2-40B4-BE49-F238E27FC236}">
                <a16:creationId xmlns:a16="http://schemas.microsoft.com/office/drawing/2014/main" id="{162DF75A-2D2D-9261-A8C2-D71D14FCE50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2C8131D-1469-790B-B105-91B91656BA8C}"/>
              </a:ext>
            </a:extLst>
          </p:cNvPr>
          <p:cNvSpPr>
            <a:spLocks noGrp="1"/>
          </p:cNvSpPr>
          <p:nvPr>
            <p:ph type="sldNum" sz="quarter" idx="12"/>
          </p:nvPr>
        </p:nvSpPr>
        <p:spPr/>
        <p:txBody>
          <a:bodyPr/>
          <a:lstStyle/>
          <a:p>
            <a:fld id="{FD9C7B38-3754-4AB0-90E6-6D985966E5DA}" type="slidenum">
              <a:rPr lang="zh-CN" altLang="en-US" smtClean="0"/>
              <a:t>‹#›</a:t>
            </a:fld>
            <a:endParaRPr lang="zh-CN" altLang="en-US"/>
          </a:p>
        </p:txBody>
      </p:sp>
    </p:spTree>
    <p:extLst>
      <p:ext uri="{BB962C8B-B14F-4D97-AF65-F5344CB8AC3E}">
        <p14:creationId xmlns:p14="http://schemas.microsoft.com/office/powerpoint/2010/main" val="831060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4559B4-1EBD-D2E5-BD43-07105FE19EF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D298BDE-510B-F56E-EC61-0A305D636B0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46A3E35-7512-6D32-4341-36CD7720CB20}"/>
              </a:ext>
            </a:extLst>
          </p:cNvPr>
          <p:cNvSpPr>
            <a:spLocks noGrp="1"/>
          </p:cNvSpPr>
          <p:nvPr>
            <p:ph type="dt" sz="half" idx="10"/>
          </p:nvPr>
        </p:nvSpPr>
        <p:spPr/>
        <p:txBody>
          <a:bodyPr/>
          <a:lstStyle/>
          <a:p>
            <a:fld id="{48221EF1-B722-4958-A8C2-5832E0C4A1F7}" type="datetimeFigureOut">
              <a:rPr lang="zh-CN" altLang="en-US" smtClean="0"/>
              <a:t>2025/6/3</a:t>
            </a:fld>
            <a:endParaRPr lang="zh-CN" altLang="en-US"/>
          </a:p>
        </p:txBody>
      </p:sp>
      <p:sp>
        <p:nvSpPr>
          <p:cNvPr id="5" name="页脚占位符 4">
            <a:extLst>
              <a:ext uri="{FF2B5EF4-FFF2-40B4-BE49-F238E27FC236}">
                <a16:creationId xmlns:a16="http://schemas.microsoft.com/office/drawing/2014/main" id="{1B43F657-3BA5-9676-7EFE-FE449257E89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4AD4C59-033C-BFA3-3D62-EEF4988232FE}"/>
              </a:ext>
            </a:extLst>
          </p:cNvPr>
          <p:cNvSpPr>
            <a:spLocks noGrp="1"/>
          </p:cNvSpPr>
          <p:nvPr>
            <p:ph type="sldNum" sz="quarter" idx="12"/>
          </p:nvPr>
        </p:nvSpPr>
        <p:spPr/>
        <p:txBody>
          <a:bodyPr/>
          <a:lstStyle/>
          <a:p>
            <a:fld id="{FD9C7B38-3754-4AB0-90E6-6D985966E5DA}" type="slidenum">
              <a:rPr lang="zh-CN" altLang="en-US" smtClean="0"/>
              <a:t>‹#›</a:t>
            </a:fld>
            <a:endParaRPr lang="zh-CN" altLang="en-US"/>
          </a:p>
        </p:txBody>
      </p:sp>
    </p:spTree>
    <p:extLst>
      <p:ext uri="{BB962C8B-B14F-4D97-AF65-F5344CB8AC3E}">
        <p14:creationId xmlns:p14="http://schemas.microsoft.com/office/powerpoint/2010/main" val="3011962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A131FB-E9EB-E744-59B0-C46DFAFEE75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B3E587F-0CC5-8CF9-4890-8D05E2A9359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B6DC124-C8C3-BB2E-E88D-FDC7ABC0A69E}"/>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D3B22A2-3535-D79B-0569-04A5609CB404}"/>
              </a:ext>
            </a:extLst>
          </p:cNvPr>
          <p:cNvSpPr>
            <a:spLocks noGrp="1"/>
          </p:cNvSpPr>
          <p:nvPr>
            <p:ph type="dt" sz="half" idx="10"/>
          </p:nvPr>
        </p:nvSpPr>
        <p:spPr/>
        <p:txBody>
          <a:bodyPr/>
          <a:lstStyle/>
          <a:p>
            <a:fld id="{48221EF1-B722-4958-A8C2-5832E0C4A1F7}" type="datetimeFigureOut">
              <a:rPr lang="zh-CN" altLang="en-US" smtClean="0"/>
              <a:t>2025/6/3</a:t>
            </a:fld>
            <a:endParaRPr lang="zh-CN" altLang="en-US"/>
          </a:p>
        </p:txBody>
      </p:sp>
      <p:sp>
        <p:nvSpPr>
          <p:cNvPr id="6" name="页脚占位符 5">
            <a:extLst>
              <a:ext uri="{FF2B5EF4-FFF2-40B4-BE49-F238E27FC236}">
                <a16:creationId xmlns:a16="http://schemas.microsoft.com/office/drawing/2014/main" id="{3E19C53E-56F0-504E-C090-90705FC49F7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DDF5FDF-1FB7-047E-FFEB-F2422F8506BC}"/>
              </a:ext>
            </a:extLst>
          </p:cNvPr>
          <p:cNvSpPr>
            <a:spLocks noGrp="1"/>
          </p:cNvSpPr>
          <p:nvPr>
            <p:ph type="sldNum" sz="quarter" idx="12"/>
          </p:nvPr>
        </p:nvSpPr>
        <p:spPr/>
        <p:txBody>
          <a:bodyPr/>
          <a:lstStyle/>
          <a:p>
            <a:fld id="{FD9C7B38-3754-4AB0-90E6-6D985966E5DA}" type="slidenum">
              <a:rPr lang="zh-CN" altLang="en-US" smtClean="0"/>
              <a:t>‹#›</a:t>
            </a:fld>
            <a:endParaRPr lang="zh-CN" altLang="en-US"/>
          </a:p>
        </p:txBody>
      </p:sp>
    </p:spTree>
    <p:extLst>
      <p:ext uri="{BB962C8B-B14F-4D97-AF65-F5344CB8AC3E}">
        <p14:creationId xmlns:p14="http://schemas.microsoft.com/office/powerpoint/2010/main" val="3055626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F152AA-49C7-1E4A-D54E-0FFBCEBCE9D5}"/>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18F8974-B952-39DB-2821-E933334507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FBECEB7-681A-01B1-8186-6D5DBA474CB3}"/>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9470345-AC58-5482-19F8-3543935A7F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309E372E-92FF-9AB1-8043-5D77664B851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1C4090B7-D1A8-AE01-F5D6-F8640EC611F8}"/>
              </a:ext>
            </a:extLst>
          </p:cNvPr>
          <p:cNvSpPr>
            <a:spLocks noGrp="1"/>
          </p:cNvSpPr>
          <p:nvPr>
            <p:ph type="dt" sz="half" idx="10"/>
          </p:nvPr>
        </p:nvSpPr>
        <p:spPr/>
        <p:txBody>
          <a:bodyPr/>
          <a:lstStyle/>
          <a:p>
            <a:fld id="{48221EF1-B722-4958-A8C2-5832E0C4A1F7}" type="datetimeFigureOut">
              <a:rPr lang="zh-CN" altLang="en-US" smtClean="0"/>
              <a:t>2025/6/3</a:t>
            </a:fld>
            <a:endParaRPr lang="zh-CN" altLang="en-US"/>
          </a:p>
        </p:txBody>
      </p:sp>
      <p:sp>
        <p:nvSpPr>
          <p:cNvPr id="8" name="页脚占位符 7">
            <a:extLst>
              <a:ext uri="{FF2B5EF4-FFF2-40B4-BE49-F238E27FC236}">
                <a16:creationId xmlns:a16="http://schemas.microsoft.com/office/drawing/2014/main" id="{82258F88-8C37-2BA1-ADFA-3F0DA195519F}"/>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AE621F7F-4F56-C741-25D2-296B8DFA0F3A}"/>
              </a:ext>
            </a:extLst>
          </p:cNvPr>
          <p:cNvSpPr>
            <a:spLocks noGrp="1"/>
          </p:cNvSpPr>
          <p:nvPr>
            <p:ph type="sldNum" sz="quarter" idx="12"/>
          </p:nvPr>
        </p:nvSpPr>
        <p:spPr/>
        <p:txBody>
          <a:bodyPr/>
          <a:lstStyle/>
          <a:p>
            <a:fld id="{FD9C7B38-3754-4AB0-90E6-6D985966E5DA}" type="slidenum">
              <a:rPr lang="zh-CN" altLang="en-US" smtClean="0"/>
              <a:t>‹#›</a:t>
            </a:fld>
            <a:endParaRPr lang="zh-CN" altLang="en-US"/>
          </a:p>
        </p:txBody>
      </p:sp>
    </p:spTree>
    <p:extLst>
      <p:ext uri="{BB962C8B-B14F-4D97-AF65-F5344CB8AC3E}">
        <p14:creationId xmlns:p14="http://schemas.microsoft.com/office/powerpoint/2010/main" val="3683051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D15A14-6289-5FC9-9FE2-E3BB3BAAB04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11E11C6-A34B-A507-01C8-4F7ED4F87AB1}"/>
              </a:ext>
            </a:extLst>
          </p:cNvPr>
          <p:cNvSpPr>
            <a:spLocks noGrp="1"/>
          </p:cNvSpPr>
          <p:nvPr>
            <p:ph type="dt" sz="half" idx="10"/>
          </p:nvPr>
        </p:nvSpPr>
        <p:spPr/>
        <p:txBody>
          <a:bodyPr/>
          <a:lstStyle/>
          <a:p>
            <a:fld id="{48221EF1-B722-4958-A8C2-5832E0C4A1F7}" type="datetimeFigureOut">
              <a:rPr lang="zh-CN" altLang="en-US" smtClean="0"/>
              <a:t>2025/6/3</a:t>
            </a:fld>
            <a:endParaRPr lang="zh-CN" altLang="en-US"/>
          </a:p>
        </p:txBody>
      </p:sp>
      <p:sp>
        <p:nvSpPr>
          <p:cNvPr id="4" name="页脚占位符 3">
            <a:extLst>
              <a:ext uri="{FF2B5EF4-FFF2-40B4-BE49-F238E27FC236}">
                <a16:creationId xmlns:a16="http://schemas.microsoft.com/office/drawing/2014/main" id="{DA4E75B7-F1F4-FBD4-1442-96CE95C5ED2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E38F80F-8317-424E-2979-AF6E2D11A000}"/>
              </a:ext>
            </a:extLst>
          </p:cNvPr>
          <p:cNvSpPr>
            <a:spLocks noGrp="1"/>
          </p:cNvSpPr>
          <p:nvPr>
            <p:ph type="sldNum" sz="quarter" idx="12"/>
          </p:nvPr>
        </p:nvSpPr>
        <p:spPr/>
        <p:txBody>
          <a:bodyPr/>
          <a:lstStyle/>
          <a:p>
            <a:fld id="{FD9C7B38-3754-4AB0-90E6-6D985966E5DA}" type="slidenum">
              <a:rPr lang="zh-CN" altLang="en-US" smtClean="0"/>
              <a:t>‹#›</a:t>
            </a:fld>
            <a:endParaRPr lang="zh-CN" altLang="en-US"/>
          </a:p>
        </p:txBody>
      </p:sp>
    </p:spTree>
    <p:extLst>
      <p:ext uri="{BB962C8B-B14F-4D97-AF65-F5344CB8AC3E}">
        <p14:creationId xmlns:p14="http://schemas.microsoft.com/office/powerpoint/2010/main" val="3650395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43CD8EC-3599-FCB0-D2E1-21F9B94350D2}"/>
              </a:ext>
            </a:extLst>
          </p:cNvPr>
          <p:cNvSpPr>
            <a:spLocks noGrp="1"/>
          </p:cNvSpPr>
          <p:nvPr>
            <p:ph type="dt" sz="half" idx="10"/>
          </p:nvPr>
        </p:nvSpPr>
        <p:spPr/>
        <p:txBody>
          <a:bodyPr/>
          <a:lstStyle/>
          <a:p>
            <a:fld id="{48221EF1-B722-4958-A8C2-5832E0C4A1F7}" type="datetimeFigureOut">
              <a:rPr lang="zh-CN" altLang="en-US" smtClean="0"/>
              <a:t>2025/6/3</a:t>
            </a:fld>
            <a:endParaRPr lang="zh-CN" altLang="en-US"/>
          </a:p>
        </p:txBody>
      </p:sp>
      <p:sp>
        <p:nvSpPr>
          <p:cNvPr id="3" name="页脚占位符 2">
            <a:extLst>
              <a:ext uri="{FF2B5EF4-FFF2-40B4-BE49-F238E27FC236}">
                <a16:creationId xmlns:a16="http://schemas.microsoft.com/office/drawing/2014/main" id="{874F099D-A373-BF0B-0CCB-3D39956B3B59}"/>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BD8801E0-29C4-806E-B297-EE459BD9B661}"/>
              </a:ext>
            </a:extLst>
          </p:cNvPr>
          <p:cNvSpPr>
            <a:spLocks noGrp="1"/>
          </p:cNvSpPr>
          <p:nvPr>
            <p:ph type="sldNum" sz="quarter" idx="12"/>
          </p:nvPr>
        </p:nvSpPr>
        <p:spPr/>
        <p:txBody>
          <a:bodyPr/>
          <a:lstStyle/>
          <a:p>
            <a:fld id="{FD9C7B38-3754-4AB0-90E6-6D985966E5DA}" type="slidenum">
              <a:rPr lang="zh-CN" altLang="en-US" smtClean="0"/>
              <a:t>‹#›</a:t>
            </a:fld>
            <a:endParaRPr lang="zh-CN" altLang="en-US"/>
          </a:p>
        </p:txBody>
      </p:sp>
    </p:spTree>
    <p:extLst>
      <p:ext uri="{BB962C8B-B14F-4D97-AF65-F5344CB8AC3E}">
        <p14:creationId xmlns:p14="http://schemas.microsoft.com/office/powerpoint/2010/main" val="31895832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BCD0B9-E145-43CC-FB20-40DA563C736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D77F746-D327-52F3-9516-E081DF1D19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88263CE-ABC6-09E5-F888-29D24A890D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45A9A34-B911-7DFE-1838-5C1F14E51863}"/>
              </a:ext>
            </a:extLst>
          </p:cNvPr>
          <p:cNvSpPr>
            <a:spLocks noGrp="1"/>
          </p:cNvSpPr>
          <p:nvPr>
            <p:ph type="dt" sz="half" idx="10"/>
          </p:nvPr>
        </p:nvSpPr>
        <p:spPr/>
        <p:txBody>
          <a:bodyPr/>
          <a:lstStyle/>
          <a:p>
            <a:fld id="{48221EF1-B722-4958-A8C2-5832E0C4A1F7}" type="datetimeFigureOut">
              <a:rPr lang="zh-CN" altLang="en-US" smtClean="0"/>
              <a:t>2025/6/3</a:t>
            </a:fld>
            <a:endParaRPr lang="zh-CN" altLang="en-US"/>
          </a:p>
        </p:txBody>
      </p:sp>
      <p:sp>
        <p:nvSpPr>
          <p:cNvPr id="6" name="页脚占位符 5">
            <a:extLst>
              <a:ext uri="{FF2B5EF4-FFF2-40B4-BE49-F238E27FC236}">
                <a16:creationId xmlns:a16="http://schemas.microsoft.com/office/drawing/2014/main" id="{A1A38203-6459-42D5-38F0-6202189A620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084EDDB-12EA-2569-39FB-C24A6C357EEA}"/>
              </a:ext>
            </a:extLst>
          </p:cNvPr>
          <p:cNvSpPr>
            <a:spLocks noGrp="1"/>
          </p:cNvSpPr>
          <p:nvPr>
            <p:ph type="sldNum" sz="quarter" idx="12"/>
          </p:nvPr>
        </p:nvSpPr>
        <p:spPr/>
        <p:txBody>
          <a:bodyPr/>
          <a:lstStyle/>
          <a:p>
            <a:fld id="{FD9C7B38-3754-4AB0-90E6-6D985966E5DA}" type="slidenum">
              <a:rPr lang="zh-CN" altLang="en-US" smtClean="0"/>
              <a:t>‹#›</a:t>
            </a:fld>
            <a:endParaRPr lang="zh-CN" altLang="en-US"/>
          </a:p>
        </p:txBody>
      </p:sp>
    </p:spTree>
    <p:extLst>
      <p:ext uri="{BB962C8B-B14F-4D97-AF65-F5344CB8AC3E}">
        <p14:creationId xmlns:p14="http://schemas.microsoft.com/office/powerpoint/2010/main" val="2892416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F75AD7-3FF6-619C-13E9-65F9239F254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350A812A-120D-F239-6843-E7E608867E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CFF6D48-8B58-ADCB-FD15-6B1733F872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C1EBAA3-9F3F-769A-CBE1-3AA510133A3F}"/>
              </a:ext>
            </a:extLst>
          </p:cNvPr>
          <p:cNvSpPr>
            <a:spLocks noGrp="1"/>
          </p:cNvSpPr>
          <p:nvPr>
            <p:ph type="dt" sz="half" idx="10"/>
          </p:nvPr>
        </p:nvSpPr>
        <p:spPr/>
        <p:txBody>
          <a:bodyPr/>
          <a:lstStyle/>
          <a:p>
            <a:fld id="{48221EF1-B722-4958-A8C2-5832E0C4A1F7}" type="datetimeFigureOut">
              <a:rPr lang="zh-CN" altLang="en-US" smtClean="0"/>
              <a:t>2025/6/3</a:t>
            </a:fld>
            <a:endParaRPr lang="zh-CN" altLang="en-US"/>
          </a:p>
        </p:txBody>
      </p:sp>
      <p:sp>
        <p:nvSpPr>
          <p:cNvPr id="6" name="页脚占位符 5">
            <a:extLst>
              <a:ext uri="{FF2B5EF4-FFF2-40B4-BE49-F238E27FC236}">
                <a16:creationId xmlns:a16="http://schemas.microsoft.com/office/drawing/2014/main" id="{FAD6DAE0-73BF-3D18-C71B-3C323E8240D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1355F8C-E80F-54B0-C3E7-97D207809626}"/>
              </a:ext>
            </a:extLst>
          </p:cNvPr>
          <p:cNvSpPr>
            <a:spLocks noGrp="1"/>
          </p:cNvSpPr>
          <p:nvPr>
            <p:ph type="sldNum" sz="quarter" idx="12"/>
          </p:nvPr>
        </p:nvSpPr>
        <p:spPr/>
        <p:txBody>
          <a:bodyPr/>
          <a:lstStyle/>
          <a:p>
            <a:fld id="{FD9C7B38-3754-4AB0-90E6-6D985966E5DA}" type="slidenum">
              <a:rPr lang="zh-CN" altLang="en-US" smtClean="0"/>
              <a:t>‹#›</a:t>
            </a:fld>
            <a:endParaRPr lang="zh-CN" altLang="en-US"/>
          </a:p>
        </p:txBody>
      </p:sp>
    </p:spTree>
    <p:extLst>
      <p:ext uri="{BB962C8B-B14F-4D97-AF65-F5344CB8AC3E}">
        <p14:creationId xmlns:p14="http://schemas.microsoft.com/office/powerpoint/2010/main" val="36799544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65BB93-D9DB-43EB-34E8-4427F53CC20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ECAA92B-EA6D-3080-0B3B-D0048C57FE1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49D4FDD-8FE7-BC08-3671-FE53441A2D41}"/>
              </a:ext>
            </a:extLst>
          </p:cNvPr>
          <p:cNvSpPr>
            <a:spLocks noGrp="1"/>
          </p:cNvSpPr>
          <p:nvPr>
            <p:ph type="dt" sz="half" idx="10"/>
          </p:nvPr>
        </p:nvSpPr>
        <p:spPr/>
        <p:txBody>
          <a:bodyPr/>
          <a:lstStyle/>
          <a:p>
            <a:fld id="{48221EF1-B722-4958-A8C2-5832E0C4A1F7}" type="datetimeFigureOut">
              <a:rPr lang="zh-CN" altLang="en-US" smtClean="0"/>
              <a:t>2025/6/3</a:t>
            </a:fld>
            <a:endParaRPr lang="zh-CN" altLang="en-US"/>
          </a:p>
        </p:txBody>
      </p:sp>
      <p:sp>
        <p:nvSpPr>
          <p:cNvPr id="5" name="页脚占位符 4">
            <a:extLst>
              <a:ext uri="{FF2B5EF4-FFF2-40B4-BE49-F238E27FC236}">
                <a16:creationId xmlns:a16="http://schemas.microsoft.com/office/drawing/2014/main" id="{EDF08E7E-AA69-E03F-BE63-32FA9B9044D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F1A597E-B3A1-A063-6522-A0F6A9B59D79}"/>
              </a:ext>
            </a:extLst>
          </p:cNvPr>
          <p:cNvSpPr>
            <a:spLocks noGrp="1"/>
          </p:cNvSpPr>
          <p:nvPr>
            <p:ph type="sldNum" sz="quarter" idx="12"/>
          </p:nvPr>
        </p:nvSpPr>
        <p:spPr/>
        <p:txBody>
          <a:bodyPr/>
          <a:lstStyle/>
          <a:p>
            <a:fld id="{FD9C7B38-3754-4AB0-90E6-6D985966E5DA}" type="slidenum">
              <a:rPr lang="zh-CN" altLang="en-US" smtClean="0"/>
              <a:t>‹#›</a:t>
            </a:fld>
            <a:endParaRPr lang="zh-CN" altLang="en-US"/>
          </a:p>
        </p:txBody>
      </p:sp>
    </p:spTree>
    <p:extLst>
      <p:ext uri="{BB962C8B-B14F-4D97-AF65-F5344CB8AC3E}">
        <p14:creationId xmlns:p14="http://schemas.microsoft.com/office/powerpoint/2010/main" val="36341309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0EA1B9C-0802-3132-DA33-14CFB246E68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A9A3A7D-4E03-3C87-7D57-593A79F7A6E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DEF02AA-42AA-E5D6-30FD-1286006D3CDB}"/>
              </a:ext>
            </a:extLst>
          </p:cNvPr>
          <p:cNvSpPr>
            <a:spLocks noGrp="1"/>
          </p:cNvSpPr>
          <p:nvPr>
            <p:ph type="dt" sz="half" idx="10"/>
          </p:nvPr>
        </p:nvSpPr>
        <p:spPr/>
        <p:txBody>
          <a:bodyPr/>
          <a:lstStyle/>
          <a:p>
            <a:fld id="{48221EF1-B722-4958-A8C2-5832E0C4A1F7}" type="datetimeFigureOut">
              <a:rPr lang="zh-CN" altLang="en-US" smtClean="0"/>
              <a:t>2025/6/3</a:t>
            </a:fld>
            <a:endParaRPr lang="zh-CN" altLang="en-US"/>
          </a:p>
        </p:txBody>
      </p:sp>
      <p:sp>
        <p:nvSpPr>
          <p:cNvPr id="5" name="页脚占位符 4">
            <a:extLst>
              <a:ext uri="{FF2B5EF4-FFF2-40B4-BE49-F238E27FC236}">
                <a16:creationId xmlns:a16="http://schemas.microsoft.com/office/drawing/2014/main" id="{8A59C326-9DC6-B1C9-4F8C-0BCE014053B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828BE31-E983-9E0F-643A-21B2DD37EE96}"/>
              </a:ext>
            </a:extLst>
          </p:cNvPr>
          <p:cNvSpPr>
            <a:spLocks noGrp="1"/>
          </p:cNvSpPr>
          <p:nvPr>
            <p:ph type="sldNum" sz="quarter" idx="12"/>
          </p:nvPr>
        </p:nvSpPr>
        <p:spPr/>
        <p:txBody>
          <a:bodyPr/>
          <a:lstStyle/>
          <a:p>
            <a:fld id="{FD9C7B38-3754-4AB0-90E6-6D985966E5DA}" type="slidenum">
              <a:rPr lang="zh-CN" altLang="en-US" smtClean="0"/>
              <a:t>‹#›</a:t>
            </a:fld>
            <a:endParaRPr lang="zh-CN" altLang="en-US"/>
          </a:p>
        </p:txBody>
      </p:sp>
    </p:spTree>
    <p:extLst>
      <p:ext uri="{BB962C8B-B14F-4D97-AF65-F5344CB8AC3E}">
        <p14:creationId xmlns:p14="http://schemas.microsoft.com/office/powerpoint/2010/main" val="101192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EBFBAA8-5C31-AA5A-2C8D-61EA29F8FB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1830F23B-D330-196D-E6DD-F5BB2237E8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0FCEBB6-BD4B-903E-DF55-9314B853C6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8221EF1-B722-4958-A8C2-5832E0C4A1F7}" type="datetimeFigureOut">
              <a:rPr lang="zh-CN" altLang="en-US" smtClean="0"/>
              <a:t>2025/6/3</a:t>
            </a:fld>
            <a:endParaRPr lang="zh-CN" altLang="en-US"/>
          </a:p>
        </p:txBody>
      </p:sp>
      <p:sp>
        <p:nvSpPr>
          <p:cNvPr id="5" name="页脚占位符 4">
            <a:extLst>
              <a:ext uri="{FF2B5EF4-FFF2-40B4-BE49-F238E27FC236}">
                <a16:creationId xmlns:a16="http://schemas.microsoft.com/office/drawing/2014/main" id="{AC807412-3099-675B-B043-9BB1002D92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8A57107F-A76B-0E92-40DC-CAEA6B524C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D9C7B38-3754-4AB0-90E6-6D985966E5DA}" type="slidenum">
              <a:rPr lang="zh-CN" altLang="en-US" smtClean="0"/>
              <a:t>‹#›</a:t>
            </a:fld>
            <a:endParaRPr lang="zh-CN" altLang="en-US"/>
          </a:p>
        </p:txBody>
      </p:sp>
    </p:spTree>
    <p:extLst>
      <p:ext uri="{BB962C8B-B14F-4D97-AF65-F5344CB8AC3E}">
        <p14:creationId xmlns:p14="http://schemas.microsoft.com/office/powerpoint/2010/main" val="20387932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video" Target="NULL" TargetMode="External"/><Relationship Id="rId7" Type="http://schemas.openxmlformats.org/officeDocument/2006/relationships/image" Target="../media/image8.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7.png"/><Relationship Id="rId5" Type="http://schemas.openxmlformats.org/officeDocument/2006/relationships/slideLayout" Target="../slideLayouts/slideLayout4.xml"/><Relationship Id="rId4" Type="http://schemas.microsoft.com/office/2007/relationships/media" Target="../media/media2.mp4"/></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3.mp4"/><Relationship Id="rId1" Type="http://schemas.microsoft.com/office/2007/relationships/media" Target="../media/media3.mp4"/><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4.mp4"/><Relationship Id="rId1" Type="http://schemas.microsoft.com/office/2007/relationships/media" Target="../media/media4.mp4"/><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5.mp4"/><Relationship Id="rId1" Type="http://schemas.microsoft.com/office/2007/relationships/media" Target="../media/media5.mp4"/><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6E7E3881-4754-C14F-5CAA-C5C095B7569B}"/>
              </a:ext>
            </a:extLst>
          </p:cNvPr>
          <p:cNvSpPr/>
          <p:nvPr/>
        </p:nvSpPr>
        <p:spPr>
          <a:xfrm>
            <a:off x="453" y="-3852"/>
            <a:ext cx="12191547" cy="611864"/>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54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9" name="textbox 1">
            <a:extLst>
              <a:ext uri="{FF2B5EF4-FFF2-40B4-BE49-F238E27FC236}">
                <a16:creationId xmlns:a16="http://schemas.microsoft.com/office/drawing/2014/main" id="{73B0E3F3-D15C-F4E7-F8ED-AEC6E67DD4E5}"/>
              </a:ext>
            </a:extLst>
          </p:cNvPr>
          <p:cNvSpPr/>
          <p:nvPr/>
        </p:nvSpPr>
        <p:spPr>
          <a:xfrm>
            <a:off x="1053250" y="1059940"/>
            <a:ext cx="10085500" cy="1435037"/>
          </a:xfrm>
          <a:prstGeom prst="rect">
            <a:avLst/>
          </a:prstGeom>
          <a:solidFill>
            <a:srgbClr val="01538B"/>
          </a:solidFill>
        </p:spPr>
        <p:txBody>
          <a:bodyPr vert="horz" wrap="square" lIns="0" tIns="0" rIns="0" bIns="0"/>
          <a:lstStyle/>
          <a:p>
            <a:pPr algn="l" rtl="0" eaLnBrk="0">
              <a:lnSpc>
                <a:spcPct val="106000"/>
              </a:lnSpc>
              <a:tabLst/>
            </a:pPr>
            <a:endParaRPr lang="Arial" altLang="Arial" sz="400" dirty="0"/>
          </a:p>
        </p:txBody>
      </p:sp>
      <p:sp>
        <p:nvSpPr>
          <p:cNvPr id="17" name="文本框 16">
            <a:extLst>
              <a:ext uri="{FF2B5EF4-FFF2-40B4-BE49-F238E27FC236}">
                <a16:creationId xmlns:a16="http://schemas.microsoft.com/office/drawing/2014/main" id="{CD51BE5F-CA34-897E-7DA5-5F5F649B1C8A}"/>
              </a:ext>
            </a:extLst>
          </p:cNvPr>
          <p:cNvSpPr txBox="1"/>
          <p:nvPr/>
        </p:nvSpPr>
        <p:spPr>
          <a:xfrm>
            <a:off x="5142778" y="2785130"/>
            <a:ext cx="1905990" cy="584775"/>
          </a:xfrm>
          <a:prstGeom prst="rect">
            <a:avLst/>
          </a:prstGeom>
          <a:noFill/>
        </p:spPr>
        <p:txBody>
          <a:bodyPr wrap="square" rtlCol="0">
            <a:spAutoFit/>
          </a:bodyPr>
          <a:lstStyle/>
          <a:p>
            <a:pPr algn="ctr"/>
            <a:r>
              <a:rPr lang="zh-CN" altLang="en-US" sz="3200" dirty="0">
                <a:latin typeface="楷体" panose="02010609060101010101" pitchFamily="49" charset="-122"/>
                <a:ea typeface="楷体" panose="02010609060101010101" pitchFamily="49" charset="-122"/>
              </a:rPr>
              <a:t>计科</a:t>
            </a:r>
            <a:r>
              <a:rPr lang="en-US" altLang="zh-CN" sz="3200" dirty="0">
                <a:latin typeface="楷体" panose="02010609060101010101" pitchFamily="49" charset="-122"/>
                <a:ea typeface="楷体" panose="02010609060101010101" pitchFamily="49" charset="-122"/>
              </a:rPr>
              <a:t>2404 </a:t>
            </a:r>
          </a:p>
        </p:txBody>
      </p:sp>
      <p:sp>
        <p:nvSpPr>
          <p:cNvPr id="18" name="文本框 17">
            <a:extLst>
              <a:ext uri="{FF2B5EF4-FFF2-40B4-BE49-F238E27FC236}">
                <a16:creationId xmlns:a16="http://schemas.microsoft.com/office/drawing/2014/main" id="{C5757F84-B6BD-2B6D-938D-6B9DD8BB75A7}"/>
              </a:ext>
            </a:extLst>
          </p:cNvPr>
          <p:cNvSpPr txBox="1"/>
          <p:nvPr/>
        </p:nvSpPr>
        <p:spPr>
          <a:xfrm>
            <a:off x="5073650" y="3439601"/>
            <a:ext cx="2174269" cy="584775"/>
          </a:xfrm>
          <a:prstGeom prst="rect">
            <a:avLst/>
          </a:prstGeom>
          <a:noFill/>
        </p:spPr>
        <p:txBody>
          <a:bodyPr wrap="square" rtlCol="0">
            <a:spAutoFit/>
          </a:bodyPr>
          <a:lstStyle/>
          <a:p>
            <a:r>
              <a:rPr lang="en-US" altLang="zh-CN" sz="3200" dirty="0">
                <a:latin typeface="楷体" panose="02010609060101010101" pitchFamily="49" charset="-122"/>
                <a:ea typeface="楷体" panose="02010609060101010101" pitchFamily="49" charset="-122"/>
              </a:rPr>
              <a:t>  24 </a:t>
            </a:r>
            <a:r>
              <a:rPr lang="zh-CN" altLang="en-US" sz="3200" dirty="0">
                <a:latin typeface="楷体" panose="02010609060101010101" pitchFamily="49" charset="-122"/>
                <a:ea typeface="楷体" panose="02010609060101010101" pitchFamily="49" charset="-122"/>
              </a:rPr>
              <a:t>杨</a:t>
            </a:r>
          </a:p>
        </p:txBody>
      </p:sp>
      <p:sp>
        <p:nvSpPr>
          <p:cNvPr id="19" name="文本框 18">
            <a:extLst>
              <a:ext uri="{FF2B5EF4-FFF2-40B4-BE49-F238E27FC236}">
                <a16:creationId xmlns:a16="http://schemas.microsoft.com/office/drawing/2014/main" id="{D45982C7-1043-B2CF-324E-5AB5F7E2AA86}"/>
              </a:ext>
            </a:extLst>
          </p:cNvPr>
          <p:cNvSpPr txBox="1"/>
          <p:nvPr/>
        </p:nvSpPr>
        <p:spPr>
          <a:xfrm>
            <a:off x="4843828" y="4198459"/>
            <a:ext cx="3062632" cy="584775"/>
          </a:xfrm>
          <a:prstGeom prst="rect">
            <a:avLst/>
          </a:prstGeom>
          <a:noFill/>
        </p:spPr>
        <p:txBody>
          <a:bodyPr wrap="square" rtlCol="0">
            <a:spAutoFit/>
          </a:bodyPr>
          <a:lstStyle/>
          <a:p>
            <a:r>
              <a:rPr lang="en-US" altLang="zh-CN" sz="3200" dirty="0">
                <a:latin typeface="楷体" panose="02010609060101010101" pitchFamily="49" charset="-122"/>
                <a:ea typeface="楷体" panose="02010609060101010101" pitchFamily="49" charset="-122"/>
              </a:rPr>
              <a:t>2025</a:t>
            </a:r>
            <a:r>
              <a:rPr lang="zh-CN" altLang="en-US" sz="3200" dirty="0">
                <a:latin typeface="楷体" panose="02010609060101010101" pitchFamily="49" charset="-122"/>
                <a:ea typeface="楷体" panose="02010609060101010101" pitchFamily="49" charset="-122"/>
              </a:rPr>
              <a:t>年</a:t>
            </a:r>
            <a:r>
              <a:rPr lang="en-US" altLang="zh-CN" sz="3200" dirty="0">
                <a:latin typeface="楷体" panose="02010609060101010101" pitchFamily="49" charset="-122"/>
                <a:ea typeface="楷体" panose="02010609060101010101" pitchFamily="49" charset="-122"/>
              </a:rPr>
              <a:t>5</a:t>
            </a:r>
            <a:r>
              <a:rPr lang="zh-CN" altLang="en-US" sz="3200" dirty="0">
                <a:latin typeface="楷体" panose="02010609060101010101" pitchFamily="49" charset="-122"/>
                <a:ea typeface="楷体" panose="02010609060101010101" pitchFamily="49" charset="-122"/>
              </a:rPr>
              <a:t>月</a:t>
            </a:r>
            <a:r>
              <a:rPr lang="en-US" altLang="zh-CN" sz="3200" dirty="0">
                <a:latin typeface="楷体" panose="02010609060101010101" pitchFamily="49" charset="-122"/>
                <a:ea typeface="楷体" panose="02010609060101010101" pitchFamily="49" charset="-122"/>
              </a:rPr>
              <a:t>8</a:t>
            </a:r>
            <a:r>
              <a:rPr lang="zh-CN" altLang="en-US" sz="3200" dirty="0">
                <a:latin typeface="楷体" panose="02010609060101010101" pitchFamily="49" charset="-122"/>
                <a:ea typeface="楷体" panose="02010609060101010101" pitchFamily="49" charset="-122"/>
              </a:rPr>
              <a:t>日</a:t>
            </a:r>
          </a:p>
        </p:txBody>
      </p:sp>
      <p:sp>
        <p:nvSpPr>
          <p:cNvPr id="21" name="标题 20">
            <a:extLst>
              <a:ext uri="{FF2B5EF4-FFF2-40B4-BE49-F238E27FC236}">
                <a16:creationId xmlns:a16="http://schemas.microsoft.com/office/drawing/2014/main" id="{E15AC517-2024-2C1D-E587-E45F9C3D1326}"/>
              </a:ext>
            </a:extLst>
          </p:cNvPr>
          <p:cNvSpPr>
            <a:spLocks noGrp="1"/>
          </p:cNvSpPr>
          <p:nvPr>
            <p:ph type="title"/>
          </p:nvPr>
        </p:nvSpPr>
        <p:spPr>
          <a:xfrm>
            <a:off x="2157167" y="1659150"/>
            <a:ext cx="8053633" cy="1287755"/>
          </a:xfrm>
        </p:spPr>
        <p:txBody>
          <a:bodyPr>
            <a:normAutofit fontScale="90000"/>
          </a:bodyPr>
          <a:lstStyle/>
          <a:p>
            <a:r>
              <a:rPr lang="zh-CN" altLang="en-US" dirty="0">
                <a:solidFill>
                  <a:schemeClr val="bg1"/>
                </a:solidFill>
                <a:latin typeface="Aptos" panose="020B0004020202020204" pitchFamily="34" charset="0"/>
                <a:ea typeface="黑体" panose="02010609060101010101" pitchFamily="49" charset="-122"/>
                <a:cs typeface="Times New Roman" panose="02020603050405020304" pitchFamily="18" charset="0"/>
              </a:rPr>
              <a:t>基于</a:t>
            </a:r>
            <a:r>
              <a:rPr lang="en-US" altLang="zh-CN" dirty="0" err="1">
                <a:solidFill>
                  <a:schemeClr val="bg1"/>
                </a:solidFill>
                <a:latin typeface="Aptos" panose="020B0004020202020204" pitchFamily="34" charset="0"/>
                <a:ea typeface="黑体" panose="02010609060101010101" pitchFamily="49" charset="-122"/>
                <a:cs typeface="Times New Roman" panose="02020603050405020304" pitchFamily="18" charset="0"/>
              </a:rPr>
              <a:t>Eaxyx</a:t>
            </a:r>
            <a:r>
              <a:rPr lang="zh-CN" altLang="en-US" dirty="0">
                <a:solidFill>
                  <a:schemeClr val="bg1"/>
                </a:solidFill>
                <a:latin typeface="Aptos" panose="020B0004020202020204" pitchFamily="34" charset="0"/>
                <a:ea typeface="黑体" panose="02010609060101010101" pitchFamily="49" charset="-122"/>
                <a:cs typeface="Times New Roman" panose="02020603050405020304" pitchFamily="18" charset="0"/>
              </a:rPr>
              <a:t>库的</a:t>
            </a:r>
            <a:r>
              <a:rPr lang="en-US" altLang="zh-CN" dirty="0">
                <a:solidFill>
                  <a:schemeClr val="bg1"/>
                </a:solidFill>
                <a:latin typeface="Aptos" panose="020B0004020202020204" pitchFamily="34" charset="0"/>
                <a:ea typeface="黑体" panose="02010609060101010101" pitchFamily="49" charset="-122"/>
                <a:cs typeface="Times New Roman" panose="02020603050405020304" pitchFamily="18" charset="0"/>
              </a:rPr>
              <a:t>C++</a:t>
            </a:r>
            <a:r>
              <a:rPr lang="zh-CN" altLang="en-US" dirty="0">
                <a:solidFill>
                  <a:schemeClr val="bg1"/>
                </a:solidFill>
                <a:latin typeface="Aptos" panose="020B0004020202020204" pitchFamily="34" charset="0"/>
                <a:ea typeface="黑体" panose="02010609060101010101" pitchFamily="49" charset="-122"/>
                <a:cs typeface="Times New Roman" panose="02020603050405020304" pitchFamily="18" charset="0"/>
              </a:rPr>
              <a:t>吃豆人小游戏</a:t>
            </a:r>
            <a:br>
              <a:rPr lang="zh-CN" altLang="zh-CN" sz="4400" dirty="0">
                <a:solidFill>
                  <a:schemeClr val="bg1"/>
                </a:solidFill>
                <a:effectLst/>
                <a:latin typeface="Aptos" panose="020B0004020202020204" pitchFamily="34" charset="0"/>
                <a:ea typeface="等线" panose="02010600030101010101" pitchFamily="2" charset="-122"/>
                <a:cs typeface="Times New Roman" panose="02020603050405020304" pitchFamily="18" charset="0"/>
              </a:rPr>
            </a:br>
            <a:br>
              <a:rPr lang="zh-CN" altLang="en-US" dirty="0"/>
            </a:br>
            <a:endParaRPr lang="zh-CN" altLang="en-US" dirty="0"/>
          </a:p>
        </p:txBody>
      </p:sp>
      <p:sp>
        <p:nvSpPr>
          <p:cNvPr id="22" name="矩形 21">
            <a:extLst>
              <a:ext uri="{FF2B5EF4-FFF2-40B4-BE49-F238E27FC236}">
                <a16:creationId xmlns:a16="http://schemas.microsoft.com/office/drawing/2014/main" id="{C82BB3D3-70A2-888A-37EC-8D1AA400B483}"/>
              </a:ext>
            </a:extLst>
          </p:cNvPr>
          <p:cNvSpPr/>
          <p:nvPr/>
        </p:nvSpPr>
        <p:spPr>
          <a:xfrm>
            <a:off x="0" y="6486716"/>
            <a:ext cx="12191547" cy="371283"/>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A3517AB4-4AD6-CF15-1799-61C47E558355}"/>
              </a:ext>
            </a:extLst>
          </p:cNvPr>
          <p:cNvSpPr txBox="1"/>
          <p:nvPr/>
        </p:nvSpPr>
        <p:spPr>
          <a:xfrm>
            <a:off x="729400" y="4957317"/>
            <a:ext cx="10592548" cy="523220"/>
          </a:xfrm>
          <a:prstGeom prst="rect">
            <a:avLst/>
          </a:prstGeom>
          <a:noFill/>
        </p:spPr>
        <p:txBody>
          <a:bodyPr wrap="square" rtlCol="0">
            <a:spAutoFit/>
          </a:bodyPr>
          <a:lstStyle/>
          <a:p>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项目地址：</a:t>
            </a:r>
            <a:r>
              <a:rPr lang="en-US" altLang="zh-CN" sz="2800" dirty="0">
                <a:latin typeface="Consolas" panose="020B0609020204030204" pitchFamily="49" charset="0"/>
              </a:rPr>
              <a:t>https://github.com/jnu-dreamer/Pacman-EasyX</a:t>
            </a:r>
            <a:endParaRPr lang="zh-CN" altLang="en-US" sz="2800" dirty="0">
              <a:latin typeface="Consolas" panose="020B0609020204030204" pitchFamily="49" charset="0"/>
              <a:ea typeface="楷体" panose="02010609060101010101" pitchFamily="49" charset="-122"/>
              <a:cs typeface="Times New Roman" panose="02020603050405020304" pitchFamily="18" charset="0"/>
            </a:endParaRPr>
          </a:p>
        </p:txBody>
      </p:sp>
      <p:sp>
        <p:nvSpPr>
          <p:cNvPr id="6" name="文本框 5">
            <a:extLst>
              <a:ext uri="{FF2B5EF4-FFF2-40B4-BE49-F238E27FC236}">
                <a16:creationId xmlns:a16="http://schemas.microsoft.com/office/drawing/2014/main" id="{C42348D6-6F98-9B9F-A5F5-85656B509A29}"/>
              </a:ext>
            </a:extLst>
          </p:cNvPr>
          <p:cNvSpPr txBox="1"/>
          <p:nvPr/>
        </p:nvSpPr>
        <p:spPr>
          <a:xfrm>
            <a:off x="729400" y="5570635"/>
            <a:ext cx="11557850" cy="523220"/>
          </a:xfrm>
          <a:prstGeom prst="rect">
            <a:avLst/>
          </a:prstGeom>
          <a:noFill/>
        </p:spPr>
        <p:txBody>
          <a:bodyPr wrap="square" rtlCol="0">
            <a:spAutoFit/>
          </a:bodyPr>
          <a:lstStyle/>
          <a:p>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讲解视频地址：</a:t>
            </a:r>
            <a:r>
              <a:rPr lang="en-US" altLang="zh-CN" sz="2800" dirty="0">
                <a:latin typeface="Consolas" panose="020B0609020204030204" pitchFamily="49" charset="0"/>
                <a:ea typeface="楷体" panose="02010609060101010101" pitchFamily="49" charset="-122"/>
                <a:cs typeface="Times New Roman" panose="02020603050405020304" pitchFamily="18" charset="0"/>
              </a:rPr>
              <a:t>https://www.bilibili.com/video/BV1oT7tzAEM1/</a:t>
            </a:r>
            <a:endParaRPr lang="zh-CN" altLang="en-US" sz="2800" dirty="0">
              <a:latin typeface="Consolas" panose="020B0609020204030204" pitchFamily="49"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8762258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F7733-D5F0-BF40-93F5-4E400A43027B}"/>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F580D2EE-5FDB-7B9E-19ED-6BA8D391D2B3}"/>
              </a:ext>
            </a:extLst>
          </p:cNvPr>
          <p:cNvSpPr/>
          <p:nvPr/>
        </p:nvSpPr>
        <p:spPr>
          <a:xfrm>
            <a:off x="453" y="-3852"/>
            <a:ext cx="12191547" cy="611864"/>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54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FDDE1AB6-A767-071F-C420-ABBB6C284532}"/>
              </a:ext>
            </a:extLst>
          </p:cNvPr>
          <p:cNvSpPr/>
          <p:nvPr/>
        </p:nvSpPr>
        <p:spPr>
          <a:xfrm>
            <a:off x="0" y="6486717"/>
            <a:ext cx="12191547" cy="371283"/>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3" name="标题 2">
            <a:extLst>
              <a:ext uri="{FF2B5EF4-FFF2-40B4-BE49-F238E27FC236}">
                <a16:creationId xmlns:a16="http://schemas.microsoft.com/office/drawing/2014/main" id="{6D8B7274-15FA-2724-E08F-7D7E42C412ED}"/>
              </a:ext>
            </a:extLst>
          </p:cNvPr>
          <p:cNvSpPr>
            <a:spLocks noGrp="1"/>
          </p:cNvSpPr>
          <p:nvPr>
            <p:ph type="title"/>
          </p:nvPr>
        </p:nvSpPr>
        <p:spPr>
          <a:xfrm>
            <a:off x="6096000" y="1591735"/>
            <a:ext cx="3822700" cy="1325563"/>
          </a:xfrm>
        </p:spPr>
        <p:txBody>
          <a:bodyPr>
            <a:normAutofit/>
          </a:bodyPr>
          <a:lstStyle/>
          <a:p>
            <a:r>
              <a:rPr lang="en-US" altLang="zh-CN" sz="4000" dirty="0">
                <a:solidFill>
                  <a:srgbClr val="004B85"/>
                </a:solidFill>
                <a:latin typeface="微软雅黑" panose="020B0503020204020204" pitchFamily="34" charset="-122"/>
                <a:ea typeface="微软雅黑" panose="020B0503020204020204" pitchFamily="34" charset="-122"/>
              </a:rPr>
              <a:t>1. </a:t>
            </a:r>
            <a:r>
              <a:rPr lang="en-US" altLang="zh-CN" sz="4000" dirty="0" err="1">
                <a:solidFill>
                  <a:srgbClr val="004B85"/>
                </a:solidFill>
                <a:latin typeface="微软雅黑" panose="020B0503020204020204" pitchFamily="34" charset="-122"/>
                <a:ea typeface="微软雅黑" panose="020B0503020204020204" pitchFamily="34" charset="-122"/>
              </a:rPr>
              <a:t>EasyX</a:t>
            </a:r>
            <a:r>
              <a:rPr lang="zh-CN" altLang="en-US" sz="4000" dirty="0">
                <a:solidFill>
                  <a:srgbClr val="004B85"/>
                </a:solidFill>
                <a:latin typeface="微软雅黑" panose="020B0503020204020204" pitchFamily="34" charset="-122"/>
                <a:ea typeface="微软雅黑" panose="020B0503020204020204" pitchFamily="34" charset="-122"/>
              </a:rPr>
              <a:t>库简介</a:t>
            </a:r>
          </a:p>
        </p:txBody>
      </p:sp>
      <p:sp>
        <p:nvSpPr>
          <p:cNvPr id="4" name="文本框 3">
            <a:extLst>
              <a:ext uri="{FF2B5EF4-FFF2-40B4-BE49-F238E27FC236}">
                <a16:creationId xmlns:a16="http://schemas.microsoft.com/office/drawing/2014/main" id="{D2B534BB-88ED-0573-EC63-DF5559E20BD8}"/>
              </a:ext>
            </a:extLst>
          </p:cNvPr>
          <p:cNvSpPr txBox="1"/>
          <p:nvPr/>
        </p:nvSpPr>
        <p:spPr>
          <a:xfrm>
            <a:off x="6096000" y="2666687"/>
            <a:ext cx="4032250" cy="707886"/>
          </a:xfrm>
          <a:prstGeom prst="rect">
            <a:avLst/>
          </a:prstGeom>
          <a:noFill/>
        </p:spPr>
        <p:txBody>
          <a:bodyPr wrap="square" rtlCol="0">
            <a:spAutoFit/>
          </a:bodyPr>
          <a:lstStyle/>
          <a:p>
            <a:r>
              <a:rPr lang="en-US" altLang="zh-CN" sz="4000" dirty="0">
                <a:solidFill>
                  <a:srgbClr val="004B85"/>
                </a:solidFill>
                <a:latin typeface="微软雅黑" panose="020B0503020204020204" pitchFamily="34" charset="-122"/>
                <a:ea typeface="微软雅黑" panose="020B0503020204020204" pitchFamily="34" charset="-122"/>
              </a:rPr>
              <a:t>2. </a:t>
            </a:r>
            <a:r>
              <a:rPr lang="zh-CN" altLang="en-US" sz="4000" dirty="0">
                <a:solidFill>
                  <a:srgbClr val="004B85"/>
                </a:solidFill>
                <a:latin typeface="微软雅黑" panose="020B0503020204020204" pitchFamily="34" charset="-122"/>
                <a:ea typeface="微软雅黑" panose="020B0503020204020204" pitchFamily="34" charset="-122"/>
              </a:rPr>
              <a:t>游戏逻辑简介</a:t>
            </a:r>
          </a:p>
        </p:txBody>
      </p:sp>
      <p:sp>
        <p:nvSpPr>
          <p:cNvPr id="5" name="文本框 4">
            <a:extLst>
              <a:ext uri="{FF2B5EF4-FFF2-40B4-BE49-F238E27FC236}">
                <a16:creationId xmlns:a16="http://schemas.microsoft.com/office/drawing/2014/main" id="{0A603360-77E1-0A7C-090A-92D6D5287B17}"/>
              </a:ext>
            </a:extLst>
          </p:cNvPr>
          <p:cNvSpPr txBox="1"/>
          <p:nvPr/>
        </p:nvSpPr>
        <p:spPr>
          <a:xfrm>
            <a:off x="6096000" y="3496402"/>
            <a:ext cx="4032250" cy="707886"/>
          </a:xfrm>
          <a:prstGeom prst="rect">
            <a:avLst/>
          </a:prstGeom>
          <a:noFill/>
        </p:spPr>
        <p:txBody>
          <a:bodyPr wrap="square" rtlCol="0">
            <a:spAutoFit/>
          </a:bodyPr>
          <a:lstStyle/>
          <a:p>
            <a:r>
              <a:rPr lang="en-US" altLang="zh-CN" sz="4000" dirty="0">
                <a:solidFill>
                  <a:srgbClr val="004B85"/>
                </a:solidFill>
                <a:latin typeface="微软雅黑" panose="020B0503020204020204" pitchFamily="34" charset="-122"/>
                <a:ea typeface="微软雅黑" panose="020B0503020204020204" pitchFamily="34" charset="-122"/>
              </a:rPr>
              <a:t>3. </a:t>
            </a:r>
            <a:r>
              <a:rPr lang="zh-CN" altLang="en-US" sz="4000" dirty="0">
                <a:solidFill>
                  <a:srgbClr val="004B85"/>
                </a:solidFill>
                <a:latin typeface="微软雅黑" panose="020B0503020204020204" pitchFamily="34" charset="-122"/>
                <a:ea typeface="微软雅黑" panose="020B0503020204020204" pitchFamily="34" charset="-122"/>
              </a:rPr>
              <a:t>双缓冲机制</a:t>
            </a:r>
          </a:p>
        </p:txBody>
      </p:sp>
      <p:sp>
        <p:nvSpPr>
          <p:cNvPr id="6" name="文本框 5">
            <a:extLst>
              <a:ext uri="{FF2B5EF4-FFF2-40B4-BE49-F238E27FC236}">
                <a16:creationId xmlns:a16="http://schemas.microsoft.com/office/drawing/2014/main" id="{7F5EF5B7-5784-5ECB-CBB3-31773A4F2F7F}"/>
              </a:ext>
            </a:extLst>
          </p:cNvPr>
          <p:cNvSpPr txBox="1"/>
          <p:nvPr/>
        </p:nvSpPr>
        <p:spPr>
          <a:xfrm>
            <a:off x="6096000" y="4350342"/>
            <a:ext cx="4032250" cy="707886"/>
          </a:xfrm>
          <a:prstGeom prst="rect">
            <a:avLst/>
          </a:prstGeom>
          <a:noFill/>
        </p:spPr>
        <p:txBody>
          <a:bodyPr wrap="square" rtlCol="0">
            <a:spAutoFit/>
          </a:bodyPr>
          <a:lstStyle/>
          <a:p>
            <a:r>
              <a:rPr lang="en-US" altLang="zh-CN" sz="4000" dirty="0">
                <a:solidFill>
                  <a:srgbClr val="004B85"/>
                </a:solidFill>
                <a:latin typeface="微软雅黑" panose="020B0503020204020204" pitchFamily="34" charset="-122"/>
                <a:ea typeface="微软雅黑" panose="020B0503020204020204" pitchFamily="34" charset="-122"/>
              </a:rPr>
              <a:t>4.</a:t>
            </a:r>
            <a:r>
              <a:rPr lang="zh-CN" altLang="en-US" sz="4000" dirty="0">
                <a:solidFill>
                  <a:srgbClr val="004B85"/>
                </a:solidFill>
                <a:latin typeface="微软雅黑" panose="020B0503020204020204" pitchFamily="34" charset="-122"/>
                <a:ea typeface="微软雅黑" panose="020B0503020204020204" pitchFamily="34" charset="-122"/>
              </a:rPr>
              <a:t>寻路方式优化</a:t>
            </a:r>
          </a:p>
        </p:txBody>
      </p:sp>
      <p:grpSp>
        <p:nvGrpSpPr>
          <p:cNvPr id="12" name="组合 11">
            <a:extLst>
              <a:ext uri="{FF2B5EF4-FFF2-40B4-BE49-F238E27FC236}">
                <a16:creationId xmlns:a16="http://schemas.microsoft.com/office/drawing/2014/main" id="{E0AA1517-8FB0-5330-58B8-1478BC0F33B9}"/>
              </a:ext>
            </a:extLst>
          </p:cNvPr>
          <p:cNvGrpSpPr/>
          <p:nvPr/>
        </p:nvGrpSpPr>
        <p:grpSpPr>
          <a:xfrm>
            <a:off x="2108200" y="2096032"/>
            <a:ext cx="3470275" cy="2006406"/>
            <a:chOff x="2108200" y="2096032"/>
            <a:chExt cx="3470275" cy="2006406"/>
          </a:xfrm>
        </p:grpSpPr>
        <p:sp>
          <p:nvSpPr>
            <p:cNvPr id="10" name="文本框 9">
              <a:extLst>
                <a:ext uri="{FF2B5EF4-FFF2-40B4-BE49-F238E27FC236}">
                  <a16:creationId xmlns:a16="http://schemas.microsoft.com/office/drawing/2014/main" id="{2FF87F81-5943-AAF1-5040-DC152FE97E40}"/>
                </a:ext>
              </a:extLst>
            </p:cNvPr>
            <p:cNvSpPr txBox="1"/>
            <p:nvPr/>
          </p:nvSpPr>
          <p:spPr>
            <a:xfrm>
              <a:off x="2108200" y="2096032"/>
              <a:ext cx="2762250" cy="1569660"/>
            </a:xfrm>
            <a:prstGeom prst="rect">
              <a:avLst/>
            </a:prstGeom>
            <a:noFill/>
          </p:spPr>
          <p:txBody>
            <a:bodyPr wrap="square" rtlCol="0">
              <a:spAutoFit/>
            </a:bodyPr>
            <a:lstStyle/>
            <a:p>
              <a:r>
                <a:rPr lang="zh-CN" altLang="en-US" sz="9600" dirty="0">
                  <a:solidFill>
                    <a:srgbClr val="004B85"/>
                  </a:solidFill>
                </a:rPr>
                <a:t>目录</a:t>
              </a:r>
            </a:p>
          </p:txBody>
        </p:sp>
        <p:sp>
          <p:nvSpPr>
            <p:cNvPr id="11" name="文本框 10">
              <a:extLst>
                <a:ext uri="{FF2B5EF4-FFF2-40B4-BE49-F238E27FC236}">
                  <a16:creationId xmlns:a16="http://schemas.microsoft.com/office/drawing/2014/main" id="{DA47350D-9212-5DF4-F06A-685C13BEE4C6}"/>
                </a:ext>
              </a:extLst>
            </p:cNvPr>
            <p:cNvSpPr txBox="1"/>
            <p:nvPr/>
          </p:nvSpPr>
          <p:spPr>
            <a:xfrm>
              <a:off x="2460625" y="3271441"/>
              <a:ext cx="3117850" cy="830997"/>
            </a:xfrm>
            <a:prstGeom prst="rect">
              <a:avLst/>
            </a:prstGeom>
            <a:noFill/>
          </p:spPr>
          <p:txBody>
            <a:bodyPr wrap="square" rtlCol="0">
              <a:spAutoFit/>
            </a:bodyPr>
            <a:lstStyle/>
            <a:p>
              <a:r>
                <a:rPr lang="en-US" altLang="zh-CN" sz="4800" dirty="0">
                  <a:solidFill>
                    <a:srgbClr val="004B85"/>
                  </a:solidFill>
                  <a:latin typeface="Times New Roman" panose="02020603050405020304" pitchFamily="18" charset="0"/>
                  <a:cs typeface="Times New Roman" panose="02020603050405020304" pitchFamily="18" charset="0"/>
                </a:rPr>
                <a:t>content</a:t>
              </a:r>
              <a:endParaRPr lang="zh-CN" altLang="en-US" sz="4800" dirty="0">
                <a:solidFill>
                  <a:srgbClr val="004B85"/>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6304620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0CD4C-6E59-B051-7D75-B17C43347B19}"/>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BC16A887-CF9E-5FB2-A1C2-D866D8D582C5}"/>
              </a:ext>
            </a:extLst>
          </p:cNvPr>
          <p:cNvSpPr/>
          <p:nvPr/>
        </p:nvSpPr>
        <p:spPr>
          <a:xfrm>
            <a:off x="453" y="-3852"/>
            <a:ext cx="12191547" cy="611864"/>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54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1" name="标题 20">
            <a:extLst>
              <a:ext uri="{FF2B5EF4-FFF2-40B4-BE49-F238E27FC236}">
                <a16:creationId xmlns:a16="http://schemas.microsoft.com/office/drawing/2014/main" id="{F2D82009-0EBF-7CA8-8E38-36815FA6876A}"/>
              </a:ext>
            </a:extLst>
          </p:cNvPr>
          <p:cNvSpPr>
            <a:spLocks noGrp="1"/>
          </p:cNvSpPr>
          <p:nvPr>
            <p:ph type="title"/>
          </p:nvPr>
        </p:nvSpPr>
        <p:spPr>
          <a:xfrm>
            <a:off x="800100" y="1659150"/>
            <a:ext cx="9220199" cy="3611350"/>
          </a:xfrm>
        </p:spPr>
        <p:txBody>
          <a:bodyPr>
            <a:noAutofit/>
          </a:bodyPr>
          <a:lstStyle/>
          <a:p>
            <a:r>
              <a:rPr lang="en-US" altLang="zh-CN" sz="2800" dirty="0" err="1">
                <a:latin typeface="Times New Roman" panose="02020603050405020304" pitchFamily="18" charset="0"/>
                <a:ea typeface="楷体" panose="02010609060101010101" pitchFamily="49" charset="-122"/>
                <a:cs typeface="Times New Roman" panose="02020603050405020304" pitchFamily="18" charset="0"/>
              </a:rPr>
              <a:t>EasyX</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 Graphics Library </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是针对 </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Visual C++ </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的免费绘图库，支持 </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VC6.0 ~ VS2022</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，简单易用，学习成本极低，应用领域广泛。</a:t>
            </a:r>
            <a:br>
              <a:rPr lang="en-US" altLang="zh-CN" sz="2800" dirty="0">
                <a:latin typeface="Times New Roman" panose="02020603050405020304" pitchFamily="18" charset="0"/>
                <a:ea typeface="楷体" panose="02010609060101010101" pitchFamily="49" charset="-122"/>
                <a:cs typeface="Times New Roman" panose="02020603050405020304" pitchFamily="18" charset="0"/>
              </a:rPr>
            </a:br>
            <a:br>
              <a:rPr lang="en-US" altLang="zh-CN" sz="2800" dirty="0">
                <a:latin typeface="Times New Roman" panose="02020603050405020304" pitchFamily="18" charset="0"/>
                <a:ea typeface="楷体" panose="02010609060101010101" pitchFamily="49" charset="-122"/>
                <a:cs typeface="Times New Roman" panose="02020603050405020304" pitchFamily="18" charset="0"/>
              </a:rPr>
            </a:br>
            <a:r>
              <a:rPr lang="en-US" altLang="zh-CN" sz="2800" dirty="0" err="1">
                <a:latin typeface="Times New Roman" panose="02020603050405020304" pitchFamily="18" charset="0"/>
                <a:ea typeface="楷体" panose="02010609060101010101" pitchFamily="49" charset="-122"/>
                <a:cs typeface="Times New Roman" panose="02020603050405020304" pitchFamily="18" charset="0"/>
              </a:rPr>
              <a:t>EasyX</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提供了绘图、文字处理、消息处理、图片处理等诸多功能的函数，使用时需引用 </a:t>
            </a:r>
            <a:r>
              <a:rPr lang="en-US" altLang="zh-CN" sz="2800" dirty="0" err="1">
                <a:latin typeface="Times New Roman" panose="02020603050405020304" pitchFamily="18" charset="0"/>
                <a:ea typeface="楷体" panose="02010609060101010101" pitchFamily="49" charset="-122"/>
                <a:cs typeface="Times New Roman" panose="02020603050405020304" pitchFamily="18" charset="0"/>
              </a:rPr>
              <a:t>graphics.h</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或 </a:t>
            </a:r>
            <a:r>
              <a:rPr lang="en-US" altLang="zh-CN" sz="2800" dirty="0" err="1">
                <a:latin typeface="Times New Roman" panose="02020603050405020304" pitchFamily="18" charset="0"/>
                <a:ea typeface="楷体" panose="02010609060101010101" pitchFamily="49" charset="-122"/>
                <a:cs typeface="Times New Roman" panose="02020603050405020304" pitchFamily="18" charset="0"/>
              </a:rPr>
              <a:t>easyx.h</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头文件。</a:t>
            </a:r>
            <a:br>
              <a:rPr lang="en-US" altLang="zh-CN" sz="2800" dirty="0">
                <a:latin typeface="Times New Roman" panose="02020603050405020304" pitchFamily="18" charset="0"/>
                <a:ea typeface="楷体" panose="02010609060101010101" pitchFamily="49" charset="-122"/>
                <a:cs typeface="Times New Roman" panose="02020603050405020304" pitchFamily="18" charset="0"/>
              </a:rPr>
            </a:b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具体用法参见官方文档：</a:t>
            </a:r>
            <a:br>
              <a:rPr lang="en-US" altLang="zh-CN" sz="2800" dirty="0">
                <a:latin typeface="Times New Roman" panose="02020603050405020304" pitchFamily="18" charset="0"/>
                <a:ea typeface="楷体" panose="02010609060101010101" pitchFamily="49" charset="-122"/>
                <a:cs typeface="Times New Roman" panose="02020603050405020304" pitchFamily="18" charset="0"/>
              </a:rPr>
            </a:b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https://docs.easyx.cn/zh-cn/intro</a:t>
            </a:r>
            <a:br>
              <a:rPr lang="zh-CN" altLang="en-US" sz="2800" dirty="0">
                <a:latin typeface="Times New Roman" panose="02020603050405020304" pitchFamily="18" charset="0"/>
                <a:ea typeface="楷体" panose="02010609060101010101" pitchFamily="49" charset="-122"/>
                <a:cs typeface="Times New Roman" panose="02020603050405020304" pitchFamily="18" charset="0"/>
              </a:rPr>
            </a:b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 name="矩形 21">
            <a:extLst>
              <a:ext uri="{FF2B5EF4-FFF2-40B4-BE49-F238E27FC236}">
                <a16:creationId xmlns:a16="http://schemas.microsoft.com/office/drawing/2014/main" id="{4CBDD1E0-6273-5CAF-1945-E133685EF8DE}"/>
              </a:ext>
            </a:extLst>
          </p:cNvPr>
          <p:cNvSpPr/>
          <p:nvPr/>
        </p:nvSpPr>
        <p:spPr>
          <a:xfrm>
            <a:off x="0" y="6486716"/>
            <a:ext cx="12191547" cy="371283"/>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3" name="椭圆 2">
            <a:extLst>
              <a:ext uri="{FF2B5EF4-FFF2-40B4-BE49-F238E27FC236}">
                <a16:creationId xmlns:a16="http://schemas.microsoft.com/office/drawing/2014/main" id="{051B18EC-A234-5E94-FB85-4B254E3FA1F8}"/>
              </a:ext>
            </a:extLst>
          </p:cNvPr>
          <p:cNvSpPr/>
          <p:nvPr/>
        </p:nvSpPr>
        <p:spPr>
          <a:xfrm>
            <a:off x="524655" y="929420"/>
            <a:ext cx="371283" cy="371283"/>
          </a:xfrm>
          <a:prstGeom prst="ellipse">
            <a:avLst/>
          </a:prstGeom>
          <a:solidFill>
            <a:srgbClr val="004B8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Times New Roman" panose="02020603050405020304" pitchFamily="18" charset="0"/>
                <a:cs typeface="Times New Roman" panose="02020603050405020304" pitchFamily="18" charset="0"/>
              </a:rPr>
              <a:t>1</a:t>
            </a:r>
            <a:endParaRPr lang="zh-CN" altLang="en-US" sz="2800" dirty="0">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89F7622F-5D6F-1D09-9169-3941098E790A}"/>
              </a:ext>
            </a:extLst>
          </p:cNvPr>
          <p:cNvSpPr txBox="1"/>
          <p:nvPr/>
        </p:nvSpPr>
        <p:spPr>
          <a:xfrm>
            <a:off x="984127" y="780163"/>
            <a:ext cx="4901784" cy="707886"/>
          </a:xfrm>
          <a:prstGeom prst="rect">
            <a:avLst/>
          </a:prstGeom>
          <a:noFill/>
        </p:spPr>
        <p:txBody>
          <a:bodyPr wrap="square" rtlCol="0">
            <a:spAutoFit/>
          </a:bodyPr>
          <a:lstStyle/>
          <a:p>
            <a:r>
              <a:rPr lang="en-US" altLang="zh-CN" sz="4000" dirty="0" err="1">
                <a:solidFill>
                  <a:srgbClr val="004B85"/>
                </a:solidFill>
                <a:latin typeface="微软雅黑" panose="020B0503020204020204" pitchFamily="34" charset="-122"/>
                <a:ea typeface="微软雅黑" panose="020B0503020204020204" pitchFamily="34" charset="-122"/>
              </a:rPr>
              <a:t>EasyX</a:t>
            </a:r>
            <a:r>
              <a:rPr lang="zh-CN" altLang="en-US" sz="4000" dirty="0">
                <a:solidFill>
                  <a:srgbClr val="004B85"/>
                </a:solidFill>
                <a:latin typeface="微软雅黑" panose="020B0503020204020204" pitchFamily="34" charset="-122"/>
                <a:ea typeface="微软雅黑" panose="020B0503020204020204" pitchFamily="34" charset="-122"/>
              </a:rPr>
              <a:t>库简介 </a:t>
            </a:r>
          </a:p>
        </p:txBody>
      </p:sp>
    </p:spTree>
    <p:extLst>
      <p:ext uri="{BB962C8B-B14F-4D97-AF65-F5344CB8AC3E}">
        <p14:creationId xmlns:p14="http://schemas.microsoft.com/office/powerpoint/2010/main" val="1698461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6EDC8-5AA5-F60F-C4F7-8459ECABFA79}"/>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B24A7B1E-B5BC-1F8B-9400-E163B8AA14DD}"/>
              </a:ext>
            </a:extLst>
          </p:cNvPr>
          <p:cNvSpPr/>
          <p:nvPr/>
        </p:nvSpPr>
        <p:spPr>
          <a:xfrm>
            <a:off x="453" y="-3852"/>
            <a:ext cx="12191547" cy="611864"/>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54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1" name="标题 20">
            <a:extLst>
              <a:ext uri="{FF2B5EF4-FFF2-40B4-BE49-F238E27FC236}">
                <a16:creationId xmlns:a16="http://schemas.microsoft.com/office/drawing/2014/main" id="{480D67C2-C8E9-C211-4B84-2811452FC5A3}"/>
              </a:ext>
            </a:extLst>
          </p:cNvPr>
          <p:cNvSpPr>
            <a:spLocks noGrp="1"/>
          </p:cNvSpPr>
          <p:nvPr>
            <p:ph type="title"/>
          </p:nvPr>
        </p:nvSpPr>
        <p:spPr>
          <a:xfrm>
            <a:off x="710296" y="1549399"/>
            <a:ext cx="9932304" cy="2876551"/>
          </a:xfrm>
        </p:spPr>
        <p:txBody>
          <a:bodyPr>
            <a:normAutofit/>
          </a:bodyPr>
          <a:lstStyle/>
          <a:p>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游戏主体为简单的的吃豆人玩法，包含玩家（</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player</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）、鬼怪（</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ghost</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）、地图（</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map</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）等元素。</a:t>
            </a:r>
            <a:br>
              <a:rPr lang="en-US" altLang="zh-CN" sz="2800" dirty="0">
                <a:latin typeface="Times New Roman" panose="02020603050405020304" pitchFamily="18" charset="0"/>
                <a:ea typeface="楷体" panose="02010609060101010101" pitchFamily="49" charset="-122"/>
                <a:cs typeface="Times New Roman" panose="02020603050405020304" pitchFamily="18" charset="0"/>
              </a:rPr>
            </a:b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在游戏中，玩家需要吃掉所有豆子来获得胜利，同时也要躲避鬼怪的追捕。游戏设有三个不同难度，不同难度的鬼怪速度，玩家生命有所不同。</a:t>
            </a:r>
            <a:br>
              <a:rPr lang="en-US" altLang="zh-CN" sz="2800" dirty="0">
                <a:latin typeface="Times New Roman" panose="02020603050405020304" pitchFamily="18" charset="0"/>
                <a:ea typeface="楷体" panose="02010609060101010101" pitchFamily="49" charset="-122"/>
                <a:cs typeface="Times New Roman" panose="02020603050405020304" pitchFamily="18" charset="0"/>
              </a:rPr>
            </a:b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游戏中同时设有超级豆，在吃掉超级豆后的 </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5s </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内，玩家进入无敌状态，同时鬼怪会“害怕”而远离玩家。</a:t>
            </a:r>
          </a:p>
        </p:txBody>
      </p:sp>
      <p:sp>
        <p:nvSpPr>
          <p:cNvPr id="22" name="矩形 21">
            <a:extLst>
              <a:ext uri="{FF2B5EF4-FFF2-40B4-BE49-F238E27FC236}">
                <a16:creationId xmlns:a16="http://schemas.microsoft.com/office/drawing/2014/main" id="{BC626A79-B8A4-1C56-715B-5DE4FA9B2604}"/>
              </a:ext>
            </a:extLst>
          </p:cNvPr>
          <p:cNvSpPr/>
          <p:nvPr/>
        </p:nvSpPr>
        <p:spPr>
          <a:xfrm>
            <a:off x="0" y="6486716"/>
            <a:ext cx="12191547" cy="371283"/>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 name="椭圆 1">
            <a:extLst>
              <a:ext uri="{FF2B5EF4-FFF2-40B4-BE49-F238E27FC236}">
                <a16:creationId xmlns:a16="http://schemas.microsoft.com/office/drawing/2014/main" id="{88BE3BA9-7C68-4935-D64A-9B384F97A9ED}"/>
              </a:ext>
            </a:extLst>
          </p:cNvPr>
          <p:cNvSpPr/>
          <p:nvPr/>
        </p:nvSpPr>
        <p:spPr>
          <a:xfrm>
            <a:off x="524655" y="929420"/>
            <a:ext cx="371283" cy="371283"/>
          </a:xfrm>
          <a:prstGeom prst="ellipse">
            <a:avLst/>
          </a:prstGeom>
          <a:solidFill>
            <a:srgbClr val="004B8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Times New Roman" panose="02020603050405020304" pitchFamily="18" charset="0"/>
                <a:cs typeface="Times New Roman" panose="02020603050405020304" pitchFamily="18" charset="0"/>
              </a:rPr>
              <a:t>2</a:t>
            </a:r>
            <a:endParaRPr lang="zh-CN" altLang="en-US" sz="2800"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A4A20B41-A6C8-4056-5B92-3184DE5E9A59}"/>
              </a:ext>
            </a:extLst>
          </p:cNvPr>
          <p:cNvSpPr txBox="1"/>
          <p:nvPr/>
        </p:nvSpPr>
        <p:spPr>
          <a:xfrm>
            <a:off x="984127" y="780163"/>
            <a:ext cx="4901784" cy="707886"/>
          </a:xfrm>
          <a:prstGeom prst="rect">
            <a:avLst/>
          </a:prstGeom>
          <a:noFill/>
        </p:spPr>
        <p:txBody>
          <a:bodyPr wrap="square" rtlCol="0">
            <a:spAutoFit/>
          </a:bodyPr>
          <a:lstStyle/>
          <a:p>
            <a:r>
              <a:rPr lang="zh-CN" altLang="en-US" sz="4000" dirty="0">
                <a:solidFill>
                  <a:srgbClr val="004B85"/>
                </a:solidFill>
                <a:latin typeface="微软雅黑" panose="020B0503020204020204" pitchFamily="34" charset="-122"/>
                <a:ea typeface="微软雅黑" panose="020B0503020204020204" pitchFamily="34" charset="-122"/>
              </a:rPr>
              <a:t>游戏逻辑说明</a:t>
            </a:r>
          </a:p>
        </p:txBody>
      </p:sp>
      <p:sp>
        <p:nvSpPr>
          <p:cNvPr id="4" name="标题 20">
            <a:extLst>
              <a:ext uri="{FF2B5EF4-FFF2-40B4-BE49-F238E27FC236}">
                <a16:creationId xmlns:a16="http://schemas.microsoft.com/office/drawing/2014/main" id="{24ECEA26-2D66-2CF6-1A5F-13FCFAFF483F}"/>
              </a:ext>
            </a:extLst>
          </p:cNvPr>
          <p:cNvSpPr txBox="1">
            <a:spLocks/>
          </p:cNvSpPr>
          <p:nvPr/>
        </p:nvSpPr>
        <p:spPr>
          <a:xfrm>
            <a:off x="710296" y="4590261"/>
            <a:ext cx="10628465" cy="1074826"/>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程序中部分使用了 </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OOP </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的编程思想，将 </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ghost</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player </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封装成类，并皆由抽象基类 </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mover </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派生而来。</a:t>
            </a:r>
          </a:p>
        </p:txBody>
      </p:sp>
    </p:spTree>
    <p:extLst>
      <p:ext uri="{BB962C8B-B14F-4D97-AF65-F5344CB8AC3E}">
        <p14:creationId xmlns:p14="http://schemas.microsoft.com/office/powerpoint/2010/main" val="2505794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56F80-E8E9-DEA6-C013-2FBCA877C2E0}"/>
            </a:ext>
          </a:extLst>
        </p:cNvPr>
        <p:cNvGrpSpPr/>
        <p:nvPr/>
      </p:nvGrpSpPr>
      <p:grpSpPr>
        <a:xfrm>
          <a:off x="0" y="0"/>
          <a:ext cx="0" cy="0"/>
          <a:chOff x="0" y="0"/>
          <a:chExt cx="0" cy="0"/>
        </a:xfrm>
      </p:grpSpPr>
      <p:pic>
        <p:nvPicPr>
          <p:cNvPr id="6" name="图片 5">
            <a:extLst>
              <a:ext uri="{FF2B5EF4-FFF2-40B4-BE49-F238E27FC236}">
                <a16:creationId xmlns:a16="http://schemas.microsoft.com/office/drawing/2014/main" id="{E528C49D-24A7-6C17-6890-976C27C6C792}"/>
              </a:ext>
            </a:extLst>
          </p:cNvPr>
          <p:cNvPicPr>
            <a:picLocks noChangeAspect="1"/>
          </p:cNvPicPr>
          <p:nvPr/>
        </p:nvPicPr>
        <p:blipFill>
          <a:blip r:embed="rId2"/>
          <a:stretch>
            <a:fillRect/>
          </a:stretch>
        </p:blipFill>
        <p:spPr>
          <a:xfrm>
            <a:off x="583766" y="1338393"/>
            <a:ext cx="6774232" cy="5110633"/>
          </a:xfrm>
          <a:prstGeom prst="rect">
            <a:avLst/>
          </a:prstGeom>
        </p:spPr>
      </p:pic>
      <p:sp>
        <p:nvSpPr>
          <p:cNvPr id="7" name="矩形 6">
            <a:extLst>
              <a:ext uri="{FF2B5EF4-FFF2-40B4-BE49-F238E27FC236}">
                <a16:creationId xmlns:a16="http://schemas.microsoft.com/office/drawing/2014/main" id="{CD2EAD7E-4E49-BBA9-16AA-C0FAC1B982E2}"/>
              </a:ext>
            </a:extLst>
          </p:cNvPr>
          <p:cNvSpPr/>
          <p:nvPr/>
        </p:nvSpPr>
        <p:spPr>
          <a:xfrm>
            <a:off x="453" y="-3852"/>
            <a:ext cx="12191547" cy="611864"/>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54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4B8D577F-9DDF-01DA-5709-680A60233726}"/>
              </a:ext>
            </a:extLst>
          </p:cNvPr>
          <p:cNvSpPr/>
          <p:nvPr/>
        </p:nvSpPr>
        <p:spPr>
          <a:xfrm>
            <a:off x="0" y="6486716"/>
            <a:ext cx="12191547" cy="371283"/>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 name="椭圆 1">
            <a:extLst>
              <a:ext uri="{FF2B5EF4-FFF2-40B4-BE49-F238E27FC236}">
                <a16:creationId xmlns:a16="http://schemas.microsoft.com/office/drawing/2014/main" id="{AB1B1807-E604-6BBF-CBC1-83C42098AFF6}"/>
              </a:ext>
            </a:extLst>
          </p:cNvPr>
          <p:cNvSpPr/>
          <p:nvPr/>
        </p:nvSpPr>
        <p:spPr>
          <a:xfrm>
            <a:off x="524655" y="929420"/>
            <a:ext cx="371283" cy="371283"/>
          </a:xfrm>
          <a:prstGeom prst="ellipse">
            <a:avLst/>
          </a:prstGeom>
          <a:solidFill>
            <a:srgbClr val="004B8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Times New Roman" panose="02020603050405020304" pitchFamily="18" charset="0"/>
                <a:cs typeface="Times New Roman" panose="02020603050405020304" pitchFamily="18" charset="0"/>
              </a:rPr>
              <a:t>2</a:t>
            </a:r>
            <a:endParaRPr lang="zh-CN" altLang="en-US" sz="2800"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B92121EF-52FE-C1D6-AD3B-9B143A1BF5BC}"/>
              </a:ext>
            </a:extLst>
          </p:cNvPr>
          <p:cNvSpPr txBox="1"/>
          <p:nvPr/>
        </p:nvSpPr>
        <p:spPr>
          <a:xfrm>
            <a:off x="984127" y="780163"/>
            <a:ext cx="4901784" cy="707886"/>
          </a:xfrm>
          <a:prstGeom prst="rect">
            <a:avLst/>
          </a:prstGeom>
          <a:noFill/>
        </p:spPr>
        <p:txBody>
          <a:bodyPr wrap="square" rtlCol="0">
            <a:spAutoFit/>
          </a:bodyPr>
          <a:lstStyle/>
          <a:p>
            <a:r>
              <a:rPr lang="zh-CN" altLang="en-US" sz="4000" dirty="0">
                <a:solidFill>
                  <a:srgbClr val="004B85"/>
                </a:solidFill>
                <a:latin typeface="微软雅黑" panose="020B0503020204020204" pitchFamily="34" charset="-122"/>
                <a:ea typeface="微软雅黑" panose="020B0503020204020204" pitchFamily="34" charset="-122"/>
              </a:rPr>
              <a:t>游戏逻辑说明</a:t>
            </a:r>
          </a:p>
        </p:txBody>
      </p:sp>
      <p:sp>
        <p:nvSpPr>
          <p:cNvPr id="5" name="标题 4">
            <a:extLst>
              <a:ext uri="{FF2B5EF4-FFF2-40B4-BE49-F238E27FC236}">
                <a16:creationId xmlns:a16="http://schemas.microsoft.com/office/drawing/2014/main" id="{06235D17-45CF-CAA5-CEB1-4A13EF3746BA}"/>
              </a:ext>
            </a:extLst>
          </p:cNvPr>
          <p:cNvSpPr>
            <a:spLocks noGrp="1"/>
          </p:cNvSpPr>
          <p:nvPr>
            <p:ph type="title"/>
          </p:nvPr>
        </p:nvSpPr>
        <p:spPr>
          <a:xfrm>
            <a:off x="4307290" y="675611"/>
            <a:ext cx="6774233" cy="1325563"/>
          </a:xfrm>
        </p:spPr>
        <p:txBody>
          <a:bodyPr>
            <a:normAutofit/>
          </a:bodyPr>
          <a:lstStyle/>
          <a:p>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mover</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基类，其中包含纯虚函数</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update()</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a:t>
            </a:r>
            <a:br>
              <a:rPr lang="en-US" altLang="zh-CN" sz="2800" dirty="0">
                <a:latin typeface="Times New Roman" panose="02020603050405020304" pitchFamily="18" charset="0"/>
                <a:ea typeface="楷体" panose="02010609060101010101" pitchFamily="49" charset="-122"/>
                <a:cs typeface="Times New Roman" panose="02020603050405020304" pitchFamily="18" charset="0"/>
              </a:rPr>
            </a:b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由派生类重写</a:t>
            </a:r>
          </a:p>
        </p:txBody>
      </p:sp>
    </p:spTree>
    <p:extLst>
      <p:ext uri="{BB962C8B-B14F-4D97-AF65-F5344CB8AC3E}">
        <p14:creationId xmlns:p14="http://schemas.microsoft.com/office/powerpoint/2010/main" val="3295584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6DD3F-EB97-E282-2C83-D2B23D2A557B}"/>
            </a:ext>
          </a:extLst>
        </p:cNvPr>
        <p:cNvGrpSpPr/>
        <p:nvPr/>
      </p:nvGrpSpPr>
      <p:grpSpPr>
        <a:xfrm>
          <a:off x="0" y="0"/>
          <a:ext cx="0" cy="0"/>
          <a:chOff x="0" y="0"/>
          <a:chExt cx="0" cy="0"/>
        </a:xfrm>
      </p:grpSpPr>
      <p:pic>
        <p:nvPicPr>
          <p:cNvPr id="10" name="图片 9">
            <a:extLst>
              <a:ext uri="{FF2B5EF4-FFF2-40B4-BE49-F238E27FC236}">
                <a16:creationId xmlns:a16="http://schemas.microsoft.com/office/drawing/2014/main" id="{368DC764-6BF1-7283-5E85-3A7EC3E6BCFD}"/>
              </a:ext>
            </a:extLst>
          </p:cNvPr>
          <p:cNvPicPr>
            <a:picLocks noChangeAspect="1"/>
          </p:cNvPicPr>
          <p:nvPr/>
        </p:nvPicPr>
        <p:blipFill>
          <a:blip r:embed="rId2"/>
          <a:stretch>
            <a:fillRect/>
          </a:stretch>
        </p:blipFill>
        <p:spPr>
          <a:xfrm>
            <a:off x="607739" y="1475349"/>
            <a:ext cx="11941026" cy="4572343"/>
          </a:xfrm>
          <a:prstGeom prst="rect">
            <a:avLst/>
          </a:prstGeom>
        </p:spPr>
      </p:pic>
      <p:sp>
        <p:nvSpPr>
          <p:cNvPr id="7" name="矩形 6">
            <a:extLst>
              <a:ext uri="{FF2B5EF4-FFF2-40B4-BE49-F238E27FC236}">
                <a16:creationId xmlns:a16="http://schemas.microsoft.com/office/drawing/2014/main" id="{BCB7FF37-E494-0612-CFBE-FC1A4438C835}"/>
              </a:ext>
            </a:extLst>
          </p:cNvPr>
          <p:cNvSpPr/>
          <p:nvPr/>
        </p:nvSpPr>
        <p:spPr>
          <a:xfrm>
            <a:off x="453" y="-3852"/>
            <a:ext cx="12191547" cy="611864"/>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54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FD9ED708-CF1D-9BBE-1980-D996D1ACDF3C}"/>
              </a:ext>
            </a:extLst>
          </p:cNvPr>
          <p:cNvSpPr/>
          <p:nvPr/>
        </p:nvSpPr>
        <p:spPr>
          <a:xfrm>
            <a:off x="0" y="6486716"/>
            <a:ext cx="12191547" cy="371283"/>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 name="椭圆 1">
            <a:extLst>
              <a:ext uri="{FF2B5EF4-FFF2-40B4-BE49-F238E27FC236}">
                <a16:creationId xmlns:a16="http://schemas.microsoft.com/office/drawing/2014/main" id="{221DEA64-821B-1879-8909-C5D9377C4F83}"/>
              </a:ext>
            </a:extLst>
          </p:cNvPr>
          <p:cNvSpPr/>
          <p:nvPr/>
        </p:nvSpPr>
        <p:spPr>
          <a:xfrm>
            <a:off x="524655" y="929420"/>
            <a:ext cx="371283" cy="371283"/>
          </a:xfrm>
          <a:prstGeom prst="ellipse">
            <a:avLst/>
          </a:prstGeom>
          <a:solidFill>
            <a:srgbClr val="004B8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Times New Roman" panose="02020603050405020304" pitchFamily="18" charset="0"/>
                <a:cs typeface="Times New Roman" panose="02020603050405020304" pitchFamily="18" charset="0"/>
              </a:rPr>
              <a:t>2</a:t>
            </a:r>
            <a:endParaRPr lang="zh-CN" altLang="en-US" sz="2800"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8DADB283-2C88-72B6-780E-9F4CDA7D2A70}"/>
              </a:ext>
            </a:extLst>
          </p:cNvPr>
          <p:cNvSpPr txBox="1"/>
          <p:nvPr/>
        </p:nvSpPr>
        <p:spPr>
          <a:xfrm>
            <a:off x="984127" y="767463"/>
            <a:ext cx="4901784" cy="707886"/>
          </a:xfrm>
          <a:prstGeom prst="rect">
            <a:avLst/>
          </a:prstGeom>
          <a:noFill/>
        </p:spPr>
        <p:txBody>
          <a:bodyPr wrap="square" rtlCol="0">
            <a:spAutoFit/>
          </a:bodyPr>
          <a:lstStyle/>
          <a:p>
            <a:r>
              <a:rPr lang="zh-CN" altLang="en-US" sz="4000" dirty="0">
                <a:solidFill>
                  <a:srgbClr val="004B85"/>
                </a:solidFill>
                <a:latin typeface="微软雅黑" panose="020B0503020204020204" pitchFamily="34" charset="-122"/>
                <a:ea typeface="微软雅黑" panose="020B0503020204020204" pitchFamily="34" charset="-122"/>
              </a:rPr>
              <a:t>游戏逻辑说明</a:t>
            </a:r>
          </a:p>
        </p:txBody>
      </p:sp>
      <p:sp>
        <p:nvSpPr>
          <p:cNvPr id="5" name="标题 4">
            <a:extLst>
              <a:ext uri="{FF2B5EF4-FFF2-40B4-BE49-F238E27FC236}">
                <a16:creationId xmlns:a16="http://schemas.microsoft.com/office/drawing/2014/main" id="{38778572-CE41-8568-1183-9F776B7A4C50}"/>
              </a:ext>
            </a:extLst>
          </p:cNvPr>
          <p:cNvSpPr>
            <a:spLocks noGrp="1"/>
          </p:cNvSpPr>
          <p:nvPr>
            <p:ph type="title"/>
          </p:nvPr>
        </p:nvSpPr>
        <p:spPr>
          <a:xfrm>
            <a:off x="4671481" y="661975"/>
            <a:ext cx="2935456" cy="1092958"/>
          </a:xfrm>
        </p:spPr>
        <p:txBody>
          <a:bodyPr>
            <a:normAutofit/>
          </a:bodyPr>
          <a:lstStyle/>
          <a:p>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派生类</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Player</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7460905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850DF-FC34-1D73-71CB-1BC6B01FC479}"/>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9338FE46-6A4F-C3A4-E23E-752CC18B23EE}"/>
              </a:ext>
            </a:extLst>
          </p:cNvPr>
          <p:cNvSpPr/>
          <p:nvPr/>
        </p:nvSpPr>
        <p:spPr>
          <a:xfrm>
            <a:off x="453" y="-3852"/>
            <a:ext cx="12191547" cy="611864"/>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54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5E59899F-DB38-8B15-1951-3AC3909BB2A0}"/>
              </a:ext>
            </a:extLst>
          </p:cNvPr>
          <p:cNvSpPr/>
          <p:nvPr/>
        </p:nvSpPr>
        <p:spPr>
          <a:xfrm>
            <a:off x="0" y="6486716"/>
            <a:ext cx="12191547" cy="371283"/>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 name="椭圆 1">
            <a:extLst>
              <a:ext uri="{FF2B5EF4-FFF2-40B4-BE49-F238E27FC236}">
                <a16:creationId xmlns:a16="http://schemas.microsoft.com/office/drawing/2014/main" id="{EF22FA4B-1E2A-9DFF-FCF2-F94BA9F0691F}"/>
              </a:ext>
            </a:extLst>
          </p:cNvPr>
          <p:cNvSpPr/>
          <p:nvPr/>
        </p:nvSpPr>
        <p:spPr>
          <a:xfrm>
            <a:off x="524655" y="929420"/>
            <a:ext cx="371283" cy="371283"/>
          </a:xfrm>
          <a:prstGeom prst="ellipse">
            <a:avLst/>
          </a:prstGeom>
          <a:solidFill>
            <a:srgbClr val="004B8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Times New Roman" panose="02020603050405020304" pitchFamily="18" charset="0"/>
                <a:cs typeface="Times New Roman" panose="02020603050405020304" pitchFamily="18" charset="0"/>
              </a:rPr>
              <a:t>2</a:t>
            </a:r>
            <a:endParaRPr lang="zh-CN" altLang="en-US" sz="2800"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2EE7E0C6-6CF9-F295-D5CB-7BBAF86C522D}"/>
              </a:ext>
            </a:extLst>
          </p:cNvPr>
          <p:cNvSpPr txBox="1"/>
          <p:nvPr/>
        </p:nvSpPr>
        <p:spPr>
          <a:xfrm>
            <a:off x="984127" y="767463"/>
            <a:ext cx="4901784" cy="707886"/>
          </a:xfrm>
          <a:prstGeom prst="rect">
            <a:avLst/>
          </a:prstGeom>
          <a:noFill/>
        </p:spPr>
        <p:txBody>
          <a:bodyPr wrap="square" rtlCol="0">
            <a:spAutoFit/>
          </a:bodyPr>
          <a:lstStyle/>
          <a:p>
            <a:r>
              <a:rPr lang="zh-CN" altLang="en-US" sz="4000" dirty="0">
                <a:solidFill>
                  <a:srgbClr val="004B85"/>
                </a:solidFill>
                <a:latin typeface="微软雅黑" panose="020B0503020204020204" pitchFamily="34" charset="-122"/>
                <a:ea typeface="微软雅黑" panose="020B0503020204020204" pitchFamily="34" charset="-122"/>
              </a:rPr>
              <a:t>游戏逻辑说明</a:t>
            </a:r>
          </a:p>
        </p:txBody>
      </p:sp>
      <p:sp>
        <p:nvSpPr>
          <p:cNvPr id="5" name="标题 4">
            <a:extLst>
              <a:ext uri="{FF2B5EF4-FFF2-40B4-BE49-F238E27FC236}">
                <a16:creationId xmlns:a16="http://schemas.microsoft.com/office/drawing/2014/main" id="{5521FF92-E277-F80F-5C66-902931AB9317}"/>
              </a:ext>
            </a:extLst>
          </p:cNvPr>
          <p:cNvSpPr>
            <a:spLocks noGrp="1"/>
          </p:cNvSpPr>
          <p:nvPr>
            <p:ph type="title"/>
          </p:nvPr>
        </p:nvSpPr>
        <p:spPr>
          <a:xfrm>
            <a:off x="4628272" y="646265"/>
            <a:ext cx="2935456" cy="1092958"/>
          </a:xfrm>
        </p:spPr>
        <p:txBody>
          <a:bodyPr>
            <a:normAutofit/>
          </a:bodyPr>
          <a:lstStyle/>
          <a:p>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派生类</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Ghost</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11" name="组合 10">
            <a:extLst>
              <a:ext uri="{FF2B5EF4-FFF2-40B4-BE49-F238E27FC236}">
                <a16:creationId xmlns:a16="http://schemas.microsoft.com/office/drawing/2014/main" id="{C7D2FF0B-3ACB-F08F-36A9-ECE7EA48D8CA}"/>
              </a:ext>
            </a:extLst>
          </p:cNvPr>
          <p:cNvGrpSpPr/>
          <p:nvPr/>
        </p:nvGrpSpPr>
        <p:grpSpPr>
          <a:xfrm>
            <a:off x="278455" y="1739223"/>
            <a:ext cx="11589311" cy="4001257"/>
            <a:chOff x="278455" y="1739223"/>
            <a:chExt cx="11589311" cy="4001257"/>
          </a:xfrm>
        </p:grpSpPr>
        <p:pic>
          <p:nvPicPr>
            <p:cNvPr id="10" name="图片 9">
              <a:extLst>
                <a:ext uri="{FF2B5EF4-FFF2-40B4-BE49-F238E27FC236}">
                  <a16:creationId xmlns:a16="http://schemas.microsoft.com/office/drawing/2014/main" id="{AEA863D4-6757-E64C-796D-03A2FDA48C2B}"/>
                </a:ext>
              </a:extLst>
            </p:cNvPr>
            <p:cNvPicPr>
              <a:picLocks noChangeAspect="1"/>
            </p:cNvPicPr>
            <p:nvPr/>
          </p:nvPicPr>
          <p:blipFill>
            <a:blip r:embed="rId2"/>
            <a:stretch>
              <a:fillRect/>
            </a:stretch>
          </p:blipFill>
          <p:spPr>
            <a:xfrm>
              <a:off x="324233" y="1739223"/>
              <a:ext cx="11543533" cy="4001257"/>
            </a:xfrm>
            <a:prstGeom prst="rect">
              <a:avLst/>
            </a:prstGeom>
          </p:spPr>
        </p:pic>
        <p:pic>
          <p:nvPicPr>
            <p:cNvPr id="9" name="图片 8">
              <a:extLst>
                <a:ext uri="{FF2B5EF4-FFF2-40B4-BE49-F238E27FC236}">
                  <a16:creationId xmlns:a16="http://schemas.microsoft.com/office/drawing/2014/main" id="{B6F8C672-A221-FBB5-294A-A9C46D0C26E1}"/>
                </a:ext>
              </a:extLst>
            </p:cNvPr>
            <p:cNvPicPr>
              <a:picLocks noChangeAspect="1"/>
            </p:cNvPicPr>
            <p:nvPr/>
          </p:nvPicPr>
          <p:blipFill>
            <a:blip r:embed="rId3"/>
            <a:srcRect l="1" r="31175"/>
            <a:stretch>
              <a:fillRect/>
            </a:stretch>
          </p:blipFill>
          <p:spPr>
            <a:xfrm>
              <a:off x="278455" y="5052050"/>
              <a:ext cx="10110145" cy="688430"/>
            </a:xfrm>
            <a:prstGeom prst="rect">
              <a:avLst/>
            </a:prstGeom>
          </p:spPr>
        </p:pic>
      </p:grpSp>
    </p:spTree>
    <p:extLst>
      <p:ext uri="{BB962C8B-B14F-4D97-AF65-F5344CB8AC3E}">
        <p14:creationId xmlns:p14="http://schemas.microsoft.com/office/powerpoint/2010/main" val="3029401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7FE51-1385-B9E8-1E0B-02AA92FCD58B}"/>
            </a:ext>
          </a:extLst>
        </p:cNvPr>
        <p:cNvGrpSpPr/>
        <p:nvPr/>
      </p:nvGrpSpPr>
      <p:grpSpPr>
        <a:xfrm>
          <a:off x="0" y="0"/>
          <a:ext cx="0" cy="0"/>
          <a:chOff x="0" y="0"/>
          <a:chExt cx="0" cy="0"/>
        </a:xfrm>
      </p:grpSpPr>
      <p:pic>
        <p:nvPicPr>
          <p:cNvPr id="8" name="图片 7" descr="形状&#10;&#10;AI 生成的内容可能不正确。">
            <a:extLst>
              <a:ext uri="{FF2B5EF4-FFF2-40B4-BE49-F238E27FC236}">
                <a16:creationId xmlns:a16="http://schemas.microsoft.com/office/drawing/2014/main" id="{E04C4C3A-397B-9A73-18B9-F6EA7B7C01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4100" y="589852"/>
            <a:ext cx="5915025" cy="5915025"/>
          </a:xfrm>
          <a:prstGeom prst="rect">
            <a:avLst/>
          </a:prstGeom>
        </p:spPr>
      </p:pic>
      <p:sp>
        <p:nvSpPr>
          <p:cNvPr id="7" name="矩形 6">
            <a:extLst>
              <a:ext uri="{FF2B5EF4-FFF2-40B4-BE49-F238E27FC236}">
                <a16:creationId xmlns:a16="http://schemas.microsoft.com/office/drawing/2014/main" id="{DC829460-C91A-C02B-012F-95E40EFC4FE1}"/>
              </a:ext>
            </a:extLst>
          </p:cNvPr>
          <p:cNvSpPr/>
          <p:nvPr/>
        </p:nvSpPr>
        <p:spPr>
          <a:xfrm>
            <a:off x="453" y="-3852"/>
            <a:ext cx="12191547" cy="611864"/>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54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1" name="标题 20">
            <a:extLst>
              <a:ext uri="{FF2B5EF4-FFF2-40B4-BE49-F238E27FC236}">
                <a16:creationId xmlns:a16="http://schemas.microsoft.com/office/drawing/2014/main" id="{D9AA20BE-A5C0-EC45-7861-D2FD82193728}"/>
              </a:ext>
            </a:extLst>
          </p:cNvPr>
          <p:cNvSpPr>
            <a:spLocks noGrp="1"/>
          </p:cNvSpPr>
          <p:nvPr>
            <p:ph type="title"/>
          </p:nvPr>
        </p:nvSpPr>
        <p:spPr>
          <a:xfrm>
            <a:off x="569146" y="1300703"/>
            <a:ext cx="3290204" cy="870789"/>
          </a:xfrm>
        </p:spPr>
        <p:txBody>
          <a:bodyPr>
            <a:normAutofit/>
          </a:bodyPr>
          <a:lstStyle/>
          <a:p>
            <a:r>
              <a:rPr lang="zh-CN" altLang="en-US" sz="2800" dirty="0">
                <a:latin typeface="楷体" panose="02010609060101010101" pitchFamily="49" charset="-122"/>
                <a:ea typeface="楷体" panose="02010609060101010101" pitchFamily="49" charset="-122"/>
              </a:rPr>
              <a:t>游戏主要逻辑如下：</a:t>
            </a:r>
          </a:p>
        </p:txBody>
      </p:sp>
      <p:sp>
        <p:nvSpPr>
          <p:cNvPr id="22" name="矩形 21">
            <a:extLst>
              <a:ext uri="{FF2B5EF4-FFF2-40B4-BE49-F238E27FC236}">
                <a16:creationId xmlns:a16="http://schemas.microsoft.com/office/drawing/2014/main" id="{30BEE0CB-0E5D-CD52-B5D7-4D7BFEE14128}"/>
              </a:ext>
            </a:extLst>
          </p:cNvPr>
          <p:cNvSpPr/>
          <p:nvPr/>
        </p:nvSpPr>
        <p:spPr>
          <a:xfrm>
            <a:off x="0" y="6486716"/>
            <a:ext cx="12191547" cy="371283"/>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 name="椭圆 1">
            <a:extLst>
              <a:ext uri="{FF2B5EF4-FFF2-40B4-BE49-F238E27FC236}">
                <a16:creationId xmlns:a16="http://schemas.microsoft.com/office/drawing/2014/main" id="{7355760E-0F80-D642-C18A-8DCA8B4948DF}"/>
              </a:ext>
            </a:extLst>
          </p:cNvPr>
          <p:cNvSpPr/>
          <p:nvPr/>
        </p:nvSpPr>
        <p:spPr>
          <a:xfrm>
            <a:off x="524655" y="929420"/>
            <a:ext cx="371283" cy="371283"/>
          </a:xfrm>
          <a:prstGeom prst="ellipse">
            <a:avLst/>
          </a:prstGeom>
          <a:solidFill>
            <a:srgbClr val="004B8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Times New Roman" panose="02020603050405020304" pitchFamily="18" charset="0"/>
                <a:cs typeface="Times New Roman" panose="02020603050405020304" pitchFamily="18" charset="0"/>
              </a:rPr>
              <a:t>2</a:t>
            </a:r>
            <a:endParaRPr lang="zh-CN" altLang="en-US" sz="2800"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EA16736B-B957-4E6B-85A7-52653183A462}"/>
              </a:ext>
            </a:extLst>
          </p:cNvPr>
          <p:cNvSpPr txBox="1"/>
          <p:nvPr/>
        </p:nvSpPr>
        <p:spPr>
          <a:xfrm>
            <a:off x="984127" y="800906"/>
            <a:ext cx="4901784" cy="707886"/>
          </a:xfrm>
          <a:prstGeom prst="rect">
            <a:avLst/>
          </a:prstGeom>
          <a:noFill/>
        </p:spPr>
        <p:txBody>
          <a:bodyPr wrap="square" rtlCol="0">
            <a:spAutoFit/>
          </a:bodyPr>
          <a:lstStyle/>
          <a:p>
            <a:r>
              <a:rPr lang="zh-CN" altLang="en-US" sz="4000" dirty="0">
                <a:solidFill>
                  <a:srgbClr val="004B85"/>
                </a:solidFill>
                <a:latin typeface="微软雅黑" panose="020B0503020204020204" pitchFamily="34" charset="-122"/>
                <a:ea typeface="微软雅黑" panose="020B0503020204020204" pitchFamily="34" charset="-122"/>
              </a:rPr>
              <a:t>游戏逻辑说明</a:t>
            </a:r>
          </a:p>
        </p:txBody>
      </p:sp>
      <p:pic>
        <p:nvPicPr>
          <p:cNvPr id="13" name="图片 12">
            <a:extLst>
              <a:ext uri="{FF2B5EF4-FFF2-40B4-BE49-F238E27FC236}">
                <a16:creationId xmlns:a16="http://schemas.microsoft.com/office/drawing/2014/main" id="{78566D43-91E4-6E1D-529D-5576B96EFC2F}"/>
              </a:ext>
            </a:extLst>
          </p:cNvPr>
          <p:cNvPicPr>
            <a:picLocks noChangeAspect="1"/>
          </p:cNvPicPr>
          <p:nvPr/>
        </p:nvPicPr>
        <p:blipFill>
          <a:blip r:embed="rId3"/>
          <a:stretch>
            <a:fillRect/>
          </a:stretch>
        </p:blipFill>
        <p:spPr>
          <a:xfrm>
            <a:off x="524655" y="2048376"/>
            <a:ext cx="7130289" cy="3880204"/>
          </a:xfrm>
          <a:prstGeom prst="rect">
            <a:avLst/>
          </a:prstGeom>
        </p:spPr>
      </p:pic>
    </p:spTree>
    <p:extLst>
      <p:ext uri="{BB962C8B-B14F-4D97-AF65-F5344CB8AC3E}">
        <p14:creationId xmlns:p14="http://schemas.microsoft.com/office/powerpoint/2010/main" val="2759144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8FE38-17E1-240D-A46F-DFBB63638AC4}"/>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8546F0C7-C8E8-2A1B-4EAA-3240EB31EE28}"/>
              </a:ext>
            </a:extLst>
          </p:cNvPr>
          <p:cNvSpPr/>
          <p:nvPr/>
        </p:nvSpPr>
        <p:spPr>
          <a:xfrm>
            <a:off x="453" y="-3852"/>
            <a:ext cx="12191547" cy="611864"/>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54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1" name="标题 20">
            <a:extLst>
              <a:ext uri="{FF2B5EF4-FFF2-40B4-BE49-F238E27FC236}">
                <a16:creationId xmlns:a16="http://schemas.microsoft.com/office/drawing/2014/main" id="{45D0C880-F5B9-2901-4010-67FFB4574729}"/>
              </a:ext>
            </a:extLst>
          </p:cNvPr>
          <p:cNvSpPr>
            <a:spLocks noGrp="1"/>
          </p:cNvSpPr>
          <p:nvPr>
            <p:ph type="title"/>
          </p:nvPr>
        </p:nvSpPr>
        <p:spPr>
          <a:xfrm>
            <a:off x="524655" y="1595154"/>
            <a:ext cx="10515600" cy="4704216"/>
          </a:xfrm>
        </p:spPr>
        <p:txBody>
          <a:bodyPr>
            <a:normAutofit/>
          </a:bodyPr>
          <a:lstStyle/>
          <a:p>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如果使用传统的绘制流程，会经历如下步骤：</a:t>
            </a:r>
            <a:br>
              <a:rPr lang="en-US" altLang="zh-CN" sz="2800" dirty="0">
                <a:latin typeface="Times New Roman" panose="02020603050405020304" pitchFamily="18" charset="0"/>
                <a:ea typeface="楷体" panose="02010609060101010101" pitchFamily="49" charset="-122"/>
                <a:cs typeface="Times New Roman" panose="02020603050405020304" pitchFamily="18" charset="0"/>
              </a:rPr>
            </a:b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清空屏幕</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-&gt;</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绘制地图</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-&gt;</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绘制角色</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-&gt;</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绘制鬼怪，</a:t>
            </a:r>
            <a:br>
              <a:rPr lang="en-US" altLang="zh-CN" sz="2800" dirty="0">
                <a:latin typeface="Times New Roman" panose="02020603050405020304" pitchFamily="18" charset="0"/>
                <a:ea typeface="楷体" panose="02010609060101010101" pitchFamily="49" charset="-122"/>
                <a:cs typeface="Times New Roman" panose="02020603050405020304" pitchFamily="18" charset="0"/>
              </a:rPr>
            </a:b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且都在一个窗口上执行。</a:t>
            </a:r>
            <a:br>
              <a:rPr lang="en-US" altLang="zh-CN" sz="2800" dirty="0">
                <a:latin typeface="Times New Roman" panose="02020603050405020304" pitchFamily="18" charset="0"/>
                <a:ea typeface="楷体" panose="02010609060101010101" pitchFamily="49" charset="-122"/>
                <a:cs typeface="Times New Roman" panose="02020603050405020304" pitchFamily="18" charset="0"/>
              </a:rPr>
            </a:b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在这过程中很容易看到绘制的中间状态，即导致画面闪烁。</a:t>
            </a:r>
            <a:br>
              <a:rPr lang="en-US" altLang="zh-CN" sz="2800" dirty="0">
                <a:latin typeface="Times New Roman" panose="02020603050405020304" pitchFamily="18" charset="0"/>
                <a:ea typeface="楷体" panose="02010609060101010101" pitchFamily="49" charset="-122"/>
                <a:cs typeface="Times New Roman" panose="02020603050405020304" pitchFamily="18" charset="0"/>
              </a:rPr>
            </a:br>
            <a:br>
              <a:rPr lang="en-US" altLang="zh-CN" sz="2800" dirty="0">
                <a:latin typeface="Times New Roman" panose="02020603050405020304" pitchFamily="18" charset="0"/>
                <a:ea typeface="楷体" panose="02010609060101010101" pitchFamily="49" charset="-122"/>
                <a:cs typeface="Times New Roman" panose="02020603050405020304" pitchFamily="18" charset="0"/>
              </a:rPr>
            </a:b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而双缓冲则在后台另外开辟了一个缓冲区，将所有内容先绘制到这个缓冲区内，再将缓冲区整体搬到展示的窗口上。</a:t>
            </a:r>
            <a:br>
              <a:rPr lang="en-US" altLang="zh-CN" sz="2800" dirty="0">
                <a:latin typeface="Times New Roman" panose="02020603050405020304" pitchFamily="18" charset="0"/>
                <a:ea typeface="楷体" panose="02010609060101010101" pitchFamily="49" charset="-122"/>
                <a:cs typeface="Times New Roman" panose="02020603050405020304" pitchFamily="18" charset="0"/>
              </a:rPr>
            </a:br>
            <a:br>
              <a:rPr lang="en-US" altLang="zh-CN" sz="2800" dirty="0">
                <a:latin typeface="Times New Roman" panose="02020603050405020304" pitchFamily="18" charset="0"/>
                <a:ea typeface="楷体" panose="02010609060101010101" pitchFamily="49" charset="-122"/>
                <a:cs typeface="Times New Roman" panose="02020603050405020304" pitchFamily="18" charset="0"/>
              </a:rPr>
            </a:br>
            <a:r>
              <a:rPr lang="en-US" altLang="zh-CN" sz="2800" dirty="0" err="1">
                <a:latin typeface="Times New Roman" panose="02020603050405020304" pitchFamily="18" charset="0"/>
                <a:ea typeface="楷体" panose="02010609060101010101" pitchFamily="49" charset="-122"/>
                <a:cs typeface="Times New Roman" panose="02020603050405020304" pitchFamily="18" charset="0"/>
              </a:rPr>
              <a:t>EasyX</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提供了 </a:t>
            </a:r>
            <a:r>
              <a:rPr lang="en-US" altLang="zh-CN" sz="2800" dirty="0" err="1">
                <a:latin typeface="Times New Roman" panose="02020603050405020304" pitchFamily="18" charset="0"/>
                <a:ea typeface="楷体" panose="02010609060101010101" pitchFamily="49" charset="-122"/>
                <a:cs typeface="Times New Roman" panose="02020603050405020304" pitchFamily="18" charset="0"/>
              </a:rPr>
              <a:t>BeginBatchDraw</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和 </a:t>
            </a:r>
            <a:r>
              <a:rPr lang="en-US" altLang="zh-CN" sz="2800" dirty="0" err="1">
                <a:latin typeface="Times New Roman" panose="02020603050405020304" pitchFamily="18" charset="0"/>
                <a:ea typeface="楷体" panose="02010609060101010101" pitchFamily="49" charset="-122"/>
                <a:cs typeface="Times New Roman" panose="02020603050405020304" pitchFamily="18" charset="0"/>
              </a:rPr>
              <a:t>EndBatchDraw</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这两个函数，便捷地实现了双缓冲。</a:t>
            </a:r>
          </a:p>
        </p:txBody>
      </p:sp>
      <p:sp>
        <p:nvSpPr>
          <p:cNvPr id="22" name="矩形 21">
            <a:extLst>
              <a:ext uri="{FF2B5EF4-FFF2-40B4-BE49-F238E27FC236}">
                <a16:creationId xmlns:a16="http://schemas.microsoft.com/office/drawing/2014/main" id="{F4DB942B-8D2D-F889-EBB8-3FF763435F63}"/>
              </a:ext>
            </a:extLst>
          </p:cNvPr>
          <p:cNvSpPr/>
          <p:nvPr/>
        </p:nvSpPr>
        <p:spPr>
          <a:xfrm>
            <a:off x="0" y="6486716"/>
            <a:ext cx="12191547" cy="371283"/>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 name="椭圆 1">
            <a:extLst>
              <a:ext uri="{FF2B5EF4-FFF2-40B4-BE49-F238E27FC236}">
                <a16:creationId xmlns:a16="http://schemas.microsoft.com/office/drawing/2014/main" id="{5A29A662-0A8E-D64E-405E-5ECEDFE0CAF7}"/>
              </a:ext>
            </a:extLst>
          </p:cNvPr>
          <p:cNvSpPr/>
          <p:nvPr/>
        </p:nvSpPr>
        <p:spPr>
          <a:xfrm>
            <a:off x="524655" y="929420"/>
            <a:ext cx="371283" cy="371283"/>
          </a:xfrm>
          <a:prstGeom prst="ellipse">
            <a:avLst/>
          </a:prstGeom>
          <a:solidFill>
            <a:srgbClr val="004B8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Times New Roman" panose="02020603050405020304" pitchFamily="18" charset="0"/>
                <a:cs typeface="Times New Roman" panose="02020603050405020304" pitchFamily="18" charset="0"/>
              </a:rPr>
              <a:t>3</a:t>
            </a:r>
            <a:endParaRPr lang="zh-CN" altLang="en-US" sz="2800"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859EAB4C-CE16-F88D-761E-973E2FBA5EEE}"/>
              </a:ext>
            </a:extLst>
          </p:cNvPr>
          <p:cNvSpPr txBox="1"/>
          <p:nvPr/>
        </p:nvSpPr>
        <p:spPr>
          <a:xfrm>
            <a:off x="984127" y="780163"/>
            <a:ext cx="4901784" cy="707886"/>
          </a:xfrm>
          <a:prstGeom prst="rect">
            <a:avLst/>
          </a:prstGeom>
          <a:noFill/>
        </p:spPr>
        <p:txBody>
          <a:bodyPr wrap="square" rtlCol="0">
            <a:spAutoFit/>
          </a:bodyPr>
          <a:lstStyle/>
          <a:p>
            <a:r>
              <a:rPr lang="zh-CN" altLang="en-US" sz="4000" dirty="0">
                <a:solidFill>
                  <a:srgbClr val="004B85"/>
                </a:solidFill>
                <a:latin typeface="微软雅黑" panose="020B0503020204020204" pitchFamily="34" charset="-122"/>
                <a:ea typeface="微软雅黑" panose="020B0503020204020204" pitchFamily="34" charset="-122"/>
              </a:rPr>
              <a:t>双缓冲机制</a:t>
            </a:r>
          </a:p>
        </p:txBody>
      </p:sp>
    </p:spTree>
    <p:extLst>
      <p:ext uri="{BB962C8B-B14F-4D97-AF65-F5344CB8AC3E}">
        <p14:creationId xmlns:p14="http://schemas.microsoft.com/office/powerpoint/2010/main" val="498181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610B2-9D70-6517-0C81-CC5DDB981BB7}"/>
            </a:ext>
          </a:extLst>
        </p:cNvPr>
        <p:cNvGrpSpPr/>
        <p:nvPr/>
      </p:nvGrpSpPr>
      <p:grpSpPr>
        <a:xfrm>
          <a:off x="0" y="0"/>
          <a:ext cx="0" cy="0"/>
          <a:chOff x="0" y="0"/>
          <a:chExt cx="0" cy="0"/>
        </a:xfrm>
      </p:grpSpPr>
      <p:pic>
        <p:nvPicPr>
          <p:cNvPr id="15" name="图片 14">
            <a:extLst>
              <a:ext uri="{FF2B5EF4-FFF2-40B4-BE49-F238E27FC236}">
                <a16:creationId xmlns:a16="http://schemas.microsoft.com/office/drawing/2014/main" id="{98738449-1200-4E17-1E84-422A57A80168}"/>
              </a:ext>
            </a:extLst>
          </p:cNvPr>
          <p:cNvPicPr>
            <a:picLocks noChangeAspect="1"/>
          </p:cNvPicPr>
          <p:nvPr/>
        </p:nvPicPr>
        <p:blipFill>
          <a:blip r:embed="rId6"/>
          <a:stretch>
            <a:fillRect/>
          </a:stretch>
        </p:blipFill>
        <p:spPr>
          <a:xfrm>
            <a:off x="6306091" y="1014448"/>
            <a:ext cx="3324388" cy="5472268"/>
          </a:xfrm>
          <a:prstGeom prst="rect">
            <a:avLst/>
          </a:prstGeom>
        </p:spPr>
      </p:pic>
      <p:sp>
        <p:nvSpPr>
          <p:cNvPr id="7" name="矩形 6">
            <a:extLst>
              <a:ext uri="{FF2B5EF4-FFF2-40B4-BE49-F238E27FC236}">
                <a16:creationId xmlns:a16="http://schemas.microsoft.com/office/drawing/2014/main" id="{B00D4294-0547-9F3F-FD73-FB93CCB25842}"/>
              </a:ext>
            </a:extLst>
          </p:cNvPr>
          <p:cNvSpPr/>
          <p:nvPr/>
        </p:nvSpPr>
        <p:spPr>
          <a:xfrm>
            <a:off x="453" y="-3852"/>
            <a:ext cx="12191547" cy="611864"/>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54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9A199C47-EDCF-60DC-F4AF-EC4F1373B8FA}"/>
              </a:ext>
            </a:extLst>
          </p:cNvPr>
          <p:cNvSpPr/>
          <p:nvPr/>
        </p:nvSpPr>
        <p:spPr>
          <a:xfrm>
            <a:off x="0" y="6486716"/>
            <a:ext cx="12191547" cy="371283"/>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 name="椭圆 1">
            <a:extLst>
              <a:ext uri="{FF2B5EF4-FFF2-40B4-BE49-F238E27FC236}">
                <a16:creationId xmlns:a16="http://schemas.microsoft.com/office/drawing/2014/main" id="{E31402C2-5544-2879-CDF3-28EEDEA4F2C9}"/>
              </a:ext>
            </a:extLst>
          </p:cNvPr>
          <p:cNvSpPr/>
          <p:nvPr/>
        </p:nvSpPr>
        <p:spPr>
          <a:xfrm>
            <a:off x="524655" y="929420"/>
            <a:ext cx="371283" cy="371283"/>
          </a:xfrm>
          <a:prstGeom prst="ellipse">
            <a:avLst/>
          </a:prstGeom>
          <a:solidFill>
            <a:srgbClr val="004B8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Times New Roman" panose="02020603050405020304" pitchFamily="18" charset="0"/>
                <a:cs typeface="Times New Roman" panose="02020603050405020304" pitchFamily="18" charset="0"/>
              </a:rPr>
              <a:t>3</a:t>
            </a:r>
            <a:endParaRPr lang="zh-CN" altLang="en-US" sz="2800"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EC76A562-D99A-6DBC-D3EE-6FA0DED5DB69}"/>
              </a:ext>
            </a:extLst>
          </p:cNvPr>
          <p:cNvSpPr txBox="1"/>
          <p:nvPr/>
        </p:nvSpPr>
        <p:spPr>
          <a:xfrm>
            <a:off x="984127" y="780163"/>
            <a:ext cx="4901784" cy="707886"/>
          </a:xfrm>
          <a:prstGeom prst="rect">
            <a:avLst/>
          </a:prstGeom>
          <a:noFill/>
        </p:spPr>
        <p:txBody>
          <a:bodyPr wrap="square" rtlCol="0">
            <a:spAutoFit/>
          </a:bodyPr>
          <a:lstStyle/>
          <a:p>
            <a:r>
              <a:rPr lang="zh-CN" altLang="en-US" sz="4000" dirty="0">
                <a:solidFill>
                  <a:srgbClr val="004B85"/>
                </a:solidFill>
                <a:latin typeface="微软雅黑" panose="020B0503020204020204" pitchFamily="34" charset="-122"/>
                <a:ea typeface="微软雅黑" panose="020B0503020204020204" pitchFamily="34" charset="-122"/>
              </a:rPr>
              <a:t>双缓冲机制</a:t>
            </a:r>
          </a:p>
        </p:txBody>
      </p:sp>
      <p:sp>
        <p:nvSpPr>
          <p:cNvPr id="6" name="文本框 5">
            <a:extLst>
              <a:ext uri="{FF2B5EF4-FFF2-40B4-BE49-F238E27FC236}">
                <a16:creationId xmlns:a16="http://schemas.microsoft.com/office/drawing/2014/main" id="{D18F1BCC-B6CE-CBBC-3785-832770E07DC6}"/>
              </a:ext>
            </a:extLst>
          </p:cNvPr>
          <p:cNvSpPr txBox="1"/>
          <p:nvPr/>
        </p:nvSpPr>
        <p:spPr>
          <a:xfrm>
            <a:off x="7413206" y="591841"/>
            <a:ext cx="4387892" cy="523220"/>
          </a:xfrm>
          <a:prstGeom prst="rect">
            <a:avLst/>
          </a:prstGeom>
          <a:noFill/>
        </p:spPr>
        <p:txBody>
          <a:bodyPr wrap="square" rtlCol="0">
            <a:spAutoFit/>
          </a:bodyPr>
          <a:lstStyle/>
          <a:p>
            <a:r>
              <a:rPr lang="zh-CN" altLang="en-US" sz="2800" dirty="0">
                <a:latin typeface="楷体" panose="02010609060101010101" pitchFamily="49" charset="-122"/>
                <a:ea typeface="楷体" panose="02010609060101010101" pitchFamily="49" charset="-122"/>
              </a:rPr>
              <a:t>双缓冲绘图的实现</a:t>
            </a:r>
          </a:p>
        </p:txBody>
      </p:sp>
      <p:pic>
        <p:nvPicPr>
          <p:cNvPr id="16" name="无标题视频——使用Clipchamp制作 (3)">
            <a:hlinkClick r:id="" action="ppaction://media"/>
            <a:extLst>
              <a:ext uri="{FF2B5EF4-FFF2-40B4-BE49-F238E27FC236}">
                <a16:creationId xmlns:a16="http://schemas.microsoft.com/office/drawing/2014/main" id="{8F4CFE27-30C3-E9AA-EE8D-08B7258A2116}"/>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1041386" y="1407665"/>
            <a:ext cx="4352960" cy="2448540"/>
          </a:xfrm>
          <a:prstGeom prst="rect">
            <a:avLst/>
          </a:prstGeom>
        </p:spPr>
      </p:pic>
      <p:pic>
        <p:nvPicPr>
          <p:cNvPr id="17" name="2025-06-01 21-08-11">
            <a:hlinkClick r:id="" action="ppaction://media"/>
            <a:extLst>
              <a:ext uri="{FF2B5EF4-FFF2-40B4-BE49-F238E27FC236}">
                <a16:creationId xmlns:a16="http://schemas.microsoft.com/office/drawing/2014/main" id="{114F6D1C-5958-9550-2D5E-9D6DD15299F2}"/>
              </a:ext>
            </a:extLst>
          </p:cNvPr>
          <p:cNvPicPr>
            <a:picLocks noChangeAspect="1"/>
          </p:cNvPicPr>
          <p:nvPr>
            <a:videoFile r:link="rId3"/>
            <p:extLst>
              <p:ext uri="{DAA4B4D4-6D71-4841-9C94-3DE7FCFB9230}">
                <p14:media xmlns:p14="http://schemas.microsoft.com/office/powerpoint/2010/main" r:embed="rId4">
                  <p14:trim st="2433" end="5064.625"/>
                </p14:media>
              </p:ext>
            </p:extLst>
          </p:nvPr>
        </p:nvPicPr>
        <p:blipFill>
          <a:blip r:embed="rId8"/>
          <a:stretch>
            <a:fillRect/>
          </a:stretch>
        </p:blipFill>
        <p:spPr>
          <a:xfrm>
            <a:off x="1041386" y="3947190"/>
            <a:ext cx="4352960" cy="2448540"/>
          </a:xfrm>
          <a:prstGeom prst="rect">
            <a:avLst/>
          </a:prstGeom>
        </p:spPr>
      </p:pic>
    </p:spTree>
    <p:extLst>
      <p:ext uri="{BB962C8B-B14F-4D97-AF65-F5344CB8AC3E}">
        <p14:creationId xmlns:p14="http://schemas.microsoft.com/office/powerpoint/2010/main" val="1602994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399" fill="hold"/>
                                        <p:tgtEl>
                                          <p:spTgt spid="16"/>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4669"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11" restart="whenNotActive" fill="hold" evtFilter="cancelBubble" nodeType="interactiveSeq">
                <p:stCondLst>
                  <p:cond evt="onClick" delay="0">
                    <p:tgtEl>
                      <p:spTgt spid="16"/>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16"/>
                                        </p:tgtEl>
                                      </p:cBhvr>
                                    </p:cmd>
                                  </p:childTnLst>
                                </p:cTn>
                              </p:par>
                            </p:childTnLst>
                          </p:cTn>
                        </p:par>
                      </p:childTnLst>
                    </p:cTn>
                  </p:par>
                </p:childTnLst>
              </p:cTn>
              <p:nextCondLst>
                <p:cond evt="onClick" delay="0">
                  <p:tgtEl>
                    <p:spTgt spid="16"/>
                  </p:tgtEl>
                </p:cond>
              </p:nextCondLst>
            </p:seq>
            <p:video>
              <p:cMediaNode vol="0">
                <p:cTn id="16" fill="hold" display="0">
                  <p:stCondLst>
                    <p:cond delay="indefinite"/>
                  </p:stCondLst>
                </p:cTn>
                <p:tgtEl>
                  <p:spTgt spid="16"/>
                </p:tgtEl>
              </p:cMediaNode>
            </p:video>
            <p:video>
              <p:cMediaNode vol="0">
                <p:cTn id="17" fill="hold" display="0">
                  <p:stCondLst>
                    <p:cond delay="indefinite"/>
                  </p:stCondLst>
                </p:cTn>
                <p:tgtEl>
                  <p:spTgt spid="17"/>
                </p:tgtEl>
              </p:cMediaNode>
            </p:video>
            <p:seq concurrent="1" nextAc="seek">
              <p:cTn id="18" restart="whenNotActive" fill="hold" evtFilter="cancelBubble" nodeType="interactiveSeq">
                <p:stCondLst>
                  <p:cond evt="onClick" delay="0">
                    <p:tgtEl>
                      <p:spTgt spid="17"/>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17"/>
                                        </p:tgtEl>
                                      </p:cBhvr>
                                    </p:cmd>
                                  </p:childTnLst>
                                </p:cTn>
                              </p:par>
                            </p:childTnLst>
                          </p:cTn>
                        </p:par>
                      </p:childTnLst>
                    </p:cTn>
                  </p:par>
                </p:childTnLst>
              </p:cTn>
              <p:nextCondLst>
                <p:cond evt="onClick" delay="0">
                  <p:tgtEl>
                    <p:spTgt spid="17"/>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33382-CF72-90BE-FCC8-EB0DB14887B0}"/>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96ECBB9D-C227-59ED-C684-DF779A847ABD}"/>
              </a:ext>
            </a:extLst>
          </p:cNvPr>
          <p:cNvPicPr>
            <a:picLocks noChangeAspect="1"/>
          </p:cNvPicPr>
          <p:nvPr/>
        </p:nvPicPr>
        <p:blipFill>
          <a:blip r:embed="rId2"/>
          <a:stretch>
            <a:fillRect/>
          </a:stretch>
        </p:blipFill>
        <p:spPr>
          <a:xfrm>
            <a:off x="3750892" y="1342496"/>
            <a:ext cx="9335588" cy="5203195"/>
          </a:xfrm>
          <a:prstGeom prst="rect">
            <a:avLst/>
          </a:prstGeom>
        </p:spPr>
      </p:pic>
      <p:sp>
        <p:nvSpPr>
          <p:cNvPr id="7" name="矩形 6">
            <a:extLst>
              <a:ext uri="{FF2B5EF4-FFF2-40B4-BE49-F238E27FC236}">
                <a16:creationId xmlns:a16="http://schemas.microsoft.com/office/drawing/2014/main" id="{910D177B-CC51-A243-F226-4783DDF80747}"/>
              </a:ext>
            </a:extLst>
          </p:cNvPr>
          <p:cNvSpPr/>
          <p:nvPr/>
        </p:nvSpPr>
        <p:spPr>
          <a:xfrm>
            <a:off x="453" y="-3852"/>
            <a:ext cx="12191547" cy="611864"/>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54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1" name="标题 20">
            <a:extLst>
              <a:ext uri="{FF2B5EF4-FFF2-40B4-BE49-F238E27FC236}">
                <a16:creationId xmlns:a16="http://schemas.microsoft.com/office/drawing/2014/main" id="{3BC16952-D4DC-10CA-0403-DD2B5C663882}"/>
              </a:ext>
            </a:extLst>
          </p:cNvPr>
          <p:cNvSpPr>
            <a:spLocks noGrp="1"/>
          </p:cNvSpPr>
          <p:nvPr>
            <p:ph type="title"/>
          </p:nvPr>
        </p:nvSpPr>
        <p:spPr>
          <a:xfrm>
            <a:off x="383614" y="1342496"/>
            <a:ext cx="3734428" cy="2457192"/>
          </a:xfrm>
        </p:spPr>
        <p:txBody>
          <a:bodyPr>
            <a:normAutofit/>
          </a:bodyPr>
          <a:lstStyle/>
          <a:p>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首先是最朴素的想法，随机寻路，但这样就像无头苍蝇，几乎不会碰到</a:t>
            </a:r>
            <a:r>
              <a:rPr lang="en-US" altLang="zh-CN" sz="2800" dirty="0">
                <a:latin typeface="Times New Roman" panose="02020603050405020304" pitchFamily="18" charset="0"/>
                <a:ea typeface="Tahoma" panose="020B0604030504040204" pitchFamily="34" charset="0"/>
                <a:cs typeface="Times New Roman" panose="02020603050405020304" pitchFamily="18" charset="0"/>
              </a:rPr>
              <a:t>player</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a:t>
            </a:r>
          </a:p>
        </p:txBody>
      </p:sp>
      <p:sp>
        <p:nvSpPr>
          <p:cNvPr id="22" name="矩形 21">
            <a:extLst>
              <a:ext uri="{FF2B5EF4-FFF2-40B4-BE49-F238E27FC236}">
                <a16:creationId xmlns:a16="http://schemas.microsoft.com/office/drawing/2014/main" id="{B84FDE6E-75C3-F47B-B2F3-5632873B89C3}"/>
              </a:ext>
            </a:extLst>
          </p:cNvPr>
          <p:cNvSpPr/>
          <p:nvPr/>
        </p:nvSpPr>
        <p:spPr>
          <a:xfrm>
            <a:off x="0" y="6486716"/>
            <a:ext cx="12191547" cy="371283"/>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 name="椭圆 1">
            <a:extLst>
              <a:ext uri="{FF2B5EF4-FFF2-40B4-BE49-F238E27FC236}">
                <a16:creationId xmlns:a16="http://schemas.microsoft.com/office/drawing/2014/main" id="{0EB979CE-7B93-0A94-AD64-F7054C0FF22A}"/>
              </a:ext>
            </a:extLst>
          </p:cNvPr>
          <p:cNvSpPr/>
          <p:nvPr/>
        </p:nvSpPr>
        <p:spPr>
          <a:xfrm>
            <a:off x="524655" y="929420"/>
            <a:ext cx="371283" cy="371283"/>
          </a:xfrm>
          <a:prstGeom prst="ellipse">
            <a:avLst/>
          </a:prstGeom>
          <a:solidFill>
            <a:srgbClr val="004B8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Times New Roman" panose="02020603050405020304" pitchFamily="18" charset="0"/>
                <a:cs typeface="Times New Roman" panose="02020603050405020304" pitchFamily="18" charset="0"/>
              </a:rPr>
              <a:t>4</a:t>
            </a:r>
            <a:endParaRPr lang="zh-CN" altLang="en-US" sz="2800"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18EB459B-C701-F498-0902-31EE51CCD7CB}"/>
              </a:ext>
            </a:extLst>
          </p:cNvPr>
          <p:cNvSpPr txBox="1"/>
          <p:nvPr/>
        </p:nvSpPr>
        <p:spPr>
          <a:xfrm>
            <a:off x="984127" y="780163"/>
            <a:ext cx="4901784" cy="707886"/>
          </a:xfrm>
          <a:prstGeom prst="rect">
            <a:avLst/>
          </a:prstGeom>
          <a:noFill/>
        </p:spPr>
        <p:txBody>
          <a:bodyPr wrap="square" rtlCol="0">
            <a:spAutoFit/>
          </a:bodyPr>
          <a:lstStyle/>
          <a:p>
            <a:r>
              <a:rPr lang="zh-CN" altLang="en-US" sz="4000" dirty="0">
                <a:solidFill>
                  <a:srgbClr val="004B85"/>
                </a:solidFill>
                <a:latin typeface="微软雅黑" panose="020B0503020204020204" pitchFamily="34" charset="-122"/>
                <a:ea typeface="微软雅黑" panose="020B0503020204020204" pitchFamily="34" charset="-122"/>
              </a:rPr>
              <a:t>寻路方式优化</a:t>
            </a:r>
          </a:p>
        </p:txBody>
      </p:sp>
    </p:spTree>
    <p:extLst>
      <p:ext uri="{BB962C8B-B14F-4D97-AF65-F5344CB8AC3E}">
        <p14:creationId xmlns:p14="http://schemas.microsoft.com/office/powerpoint/2010/main" val="3289317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F707F-5491-D5ED-828F-FF60640202A4}"/>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1AFC74EC-616C-F5A6-F2B0-70A54C3215BF}"/>
              </a:ext>
            </a:extLst>
          </p:cNvPr>
          <p:cNvSpPr/>
          <p:nvPr/>
        </p:nvSpPr>
        <p:spPr>
          <a:xfrm>
            <a:off x="453" y="-3852"/>
            <a:ext cx="12191547" cy="611864"/>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54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C8082B2F-D95D-D937-97FA-5EFD26FF4A9F}"/>
              </a:ext>
            </a:extLst>
          </p:cNvPr>
          <p:cNvSpPr/>
          <p:nvPr/>
        </p:nvSpPr>
        <p:spPr>
          <a:xfrm>
            <a:off x="0" y="6486716"/>
            <a:ext cx="12191547" cy="371283"/>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 name="椭圆 1">
            <a:extLst>
              <a:ext uri="{FF2B5EF4-FFF2-40B4-BE49-F238E27FC236}">
                <a16:creationId xmlns:a16="http://schemas.microsoft.com/office/drawing/2014/main" id="{CA969648-F3BB-577A-B33D-3BD9DF3F9F6B}"/>
              </a:ext>
            </a:extLst>
          </p:cNvPr>
          <p:cNvSpPr/>
          <p:nvPr/>
        </p:nvSpPr>
        <p:spPr>
          <a:xfrm>
            <a:off x="524655" y="929420"/>
            <a:ext cx="371283" cy="371283"/>
          </a:xfrm>
          <a:prstGeom prst="ellipse">
            <a:avLst/>
          </a:prstGeom>
          <a:solidFill>
            <a:srgbClr val="004B8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Times New Roman" panose="02020603050405020304" pitchFamily="18" charset="0"/>
                <a:cs typeface="Times New Roman" panose="02020603050405020304" pitchFamily="18" charset="0"/>
              </a:rPr>
              <a:t>4</a:t>
            </a:r>
            <a:endParaRPr lang="zh-CN" altLang="en-US" sz="2800"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AFB8481F-E129-CEEE-CA69-1E90E61F77CB}"/>
              </a:ext>
            </a:extLst>
          </p:cNvPr>
          <p:cNvSpPr txBox="1"/>
          <p:nvPr/>
        </p:nvSpPr>
        <p:spPr>
          <a:xfrm>
            <a:off x="984127" y="780163"/>
            <a:ext cx="4901784" cy="707886"/>
          </a:xfrm>
          <a:prstGeom prst="rect">
            <a:avLst/>
          </a:prstGeom>
          <a:noFill/>
        </p:spPr>
        <p:txBody>
          <a:bodyPr wrap="square" rtlCol="0">
            <a:spAutoFit/>
          </a:bodyPr>
          <a:lstStyle/>
          <a:p>
            <a:r>
              <a:rPr lang="zh-CN" altLang="en-US" sz="4000" dirty="0">
                <a:solidFill>
                  <a:srgbClr val="004B85"/>
                </a:solidFill>
                <a:latin typeface="微软雅黑" panose="020B0503020204020204" pitchFamily="34" charset="-122"/>
                <a:ea typeface="微软雅黑" panose="020B0503020204020204" pitchFamily="34" charset="-122"/>
              </a:rPr>
              <a:t>寻路方式优化</a:t>
            </a:r>
          </a:p>
        </p:txBody>
      </p:sp>
      <p:sp>
        <p:nvSpPr>
          <p:cNvPr id="8" name="标题 7">
            <a:extLst>
              <a:ext uri="{FF2B5EF4-FFF2-40B4-BE49-F238E27FC236}">
                <a16:creationId xmlns:a16="http://schemas.microsoft.com/office/drawing/2014/main" id="{95D7D61F-D50A-25D6-9407-46A14A723732}"/>
              </a:ext>
            </a:extLst>
          </p:cNvPr>
          <p:cNvSpPr>
            <a:spLocks noGrp="1"/>
          </p:cNvSpPr>
          <p:nvPr>
            <p:ph type="title"/>
          </p:nvPr>
        </p:nvSpPr>
        <p:spPr>
          <a:xfrm>
            <a:off x="5068476" y="1012676"/>
            <a:ext cx="2475229" cy="556823"/>
          </a:xfrm>
        </p:spPr>
        <p:txBody>
          <a:bodyPr>
            <a:normAutofit/>
          </a:bodyPr>
          <a:lstStyle/>
          <a:p>
            <a:r>
              <a:rPr lang="zh-CN" altLang="en-US" sz="2800" dirty="0">
                <a:latin typeface="楷体" panose="02010609060101010101" pitchFamily="49" charset="-122"/>
                <a:ea typeface="楷体" panose="02010609060101010101" pitchFamily="49" charset="-122"/>
              </a:rPr>
              <a:t>随机寻路</a:t>
            </a:r>
          </a:p>
        </p:txBody>
      </p:sp>
      <p:pic>
        <p:nvPicPr>
          <p:cNvPr id="5" name="无标题视频——使用Clipchamp制作 (4)">
            <a:hlinkClick r:id="" action="ppaction://media"/>
            <a:extLst>
              <a:ext uri="{FF2B5EF4-FFF2-40B4-BE49-F238E27FC236}">
                <a16:creationId xmlns:a16="http://schemas.microsoft.com/office/drawing/2014/main" id="{0C285F94-E21A-CED4-B165-33DCD0753779}"/>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774825" y="1701382"/>
            <a:ext cx="8128000" cy="4572000"/>
          </a:xfrm>
          <a:prstGeom prst="rect">
            <a:avLst/>
          </a:prstGeom>
        </p:spPr>
      </p:pic>
    </p:spTree>
    <p:extLst>
      <p:ext uri="{BB962C8B-B14F-4D97-AF65-F5344CB8AC3E}">
        <p14:creationId xmlns:p14="http://schemas.microsoft.com/office/powerpoint/2010/main" val="2248621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93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B12DB-65E6-7696-C600-27D14435515E}"/>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E036E8C4-C607-D098-2CE4-AFD377AADABF}"/>
              </a:ext>
            </a:extLst>
          </p:cNvPr>
          <p:cNvPicPr>
            <a:picLocks noChangeAspect="1"/>
          </p:cNvPicPr>
          <p:nvPr/>
        </p:nvPicPr>
        <p:blipFill>
          <a:blip r:embed="rId2"/>
          <a:stretch>
            <a:fillRect/>
          </a:stretch>
        </p:blipFill>
        <p:spPr>
          <a:xfrm>
            <a:off x="235538" y="1432948"/>
            <a:ext cx="10203862" cy="5058666"/>
          </a:xfrm>
          <a:prstGeom prst="rect">
            <a:avLst/>
          </a:prstGeom>
        </p:spPr>
      </p:pic>
      <p:sp>
        <p:nvSpPr>
          <p:cNvPr id="7" name="矩形 6">
            <a:extLst>
              <a:ext uri="{FF2B5EF4-FFF2-40B4-BE49-F238E27FC236}">
                <a16:creationId xmlns:a16="http://schemas.microsoft.com/office/drawing/2014/main" id="{48BABB53-1E86-0AF4-5A9E-CA5B04DC2F14}"/>
              </a:ext>
            </a:extLst>
          </p:cNvPr>
          <p:cNvSpPr/>
          <p:nvPr/>
        </p:nvSpPr>
        <p:spPr>
          <a:xfrm>
            <a:off x="453" y="-3852"/>
            <a:ext cx="12191547" cy="611864"/>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54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1" name="标题 20">
            <a:extLst>
              <a:ext uri="{FF2B5EF4-FFF2-40B4-BE49-F238E27FC236}">
                <a16:creationId xmlns:a16="http://schemas.microsoft.com/office/drawing/2014/main" id="{D3F4E807-DD6A-2847-1037-231FC94B4862}"/>
              </a:ext>
            </a:extLst>
          </p:cNvPr>
          <p:cNvSpPr>
            <a:spLocks noGrp="1"/>
          </p:cNvSpPr>
          <p:nvPr>
            <p:ph type="title"/>
          </p:nvPr>
        </p:nvSpPr>
        <p:spPr>
          <a:xfrm>
            <a:off x="5337469" y="780163"/>
            <a:ext cx="4949291" cy="2114550"/>
          </a:xfrm>
        </p:spPr>
        <p:txBody>
          <a:bodyPr>
            <a:normAutofit/>
          </a:bodyPr>
          <a:lstStyle/>
          <a:p>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为了解决这个问题，我们引入了</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BFS</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（广度优先搜索）算法，用于搜索鬼怪到玩家的最短路及下一步的方向。</a:t>
            </a:r>
            <a:br>
              <a:rPr lang="en-US" altLang="zh-CN" sz="2800" dirty="0">
                <a:latin typeface="Times New Roman" panose="02020603050405020304" pitchFamily="18" charset="0"/>
                <a:ea typeface="楷体" panose="02010609060101010101" pitchFamily="49" charset="-122"/>
                <a:cs typeface="Times New Roman" panose="02020603050405020304" pitchFamily="18" charset="0"/>
              </a:rPr>
            </a:b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 name="矩形 21">
            <a:extLst>
              <a:ext uri="{FF2B5EF4-FFF2-40B4-BE49-F238E27FC236}">
                <a16:creationId xmlns:a16="http://schemas.microsoft.com/office/drawing/2014/main" id="{68859D33-A98F-31B8-205C-42CAE222D80C}"/>
              </a:ext>
            </a:extLst>
          </p:cNvPr>
          <p:cNvSpPr/>
          <p:nvPr/>
        </p:nvSpPr>
        <p:spPr>
          <a:xfrm>
            <a:off x="0" y="6486716"/>
            <a:ext cx="12191547" cy="371283"/>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 name="椭圆 1">
            <a:extLst>
              <a:ext uri="{FF2B5EF4-FFF2-40B4-BE49-F238E27FC236}">
                <a16:creationId xmlns:a16="http://schemas.microsoft.com/office/drawing/2014/main" id="{599F5C3A-8074-5769-C65C-6813D081E06E}"/>
              </a:ext>
            </a:extLst>
          </p:cNvPr>
          <p:cNvSpPr/>
          <p:nvPr/>
        </p:nvSpPr>
        <p:spPr>
          <a:xfrm>
            <a:off x="524655" y="929420"/>
            <a:ext cx="371283" cy="371283"/>
          </a:xfrm>
          <a:prstGeom prst="ellipse">
            <a:avLst/>
          </a:prstGeom>
          <a:solidFill>
            <a:srgbClr val="004B8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Times New Roman" panose="02020603050405020304" pitchFamily="18" charset="0"/>
                <a:cs typeface="Times New Roman" panose="02020603050405020304" pitchFamily="18" charset="0"/>
              </a:rPr>
              <a:t>4</a:t>
            </a:r>
            <a:endParaRPr lang="zh-CN" altLang="en-US" sz="2800"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E8199F35-FE14-C0FB-A2C3-7FD78489B422}"/>
              </a:ext>
            </a:extLst>
          </p:cNvPr>
          <p:cNvSpPr txBox="1"/>
          <p:nvPr/>
        </p:nvSpPr>
        <p:spPr>
          <a:xfrm>
            <a:off x="984127" y="780163"/>
            <a:ext cx="4901784" cy="707886"/>
          </a:xfrm>
          <a:prstGeom prst="rect">
            <a:avLst/>
          </a:prstGeom>
          <a:noFill/>
        </p:spPr>
        <p:txBody>
          <a:bodyPr wrap="square" rtlCol="0">
            <a:spAutoFit/>
          </a:bodyPr>
          <a:lstStyle/>
          <a:p>
            <a:r>
              <a:rPr lang="zh-CN" altLang="en-US" sz="4000" dirty="0">
                <a:solidFill>
                  <a:srgbClr val="004B85"/>
                </a:solidFill>
                <a:latin typeface="微软雅黑" panose="020B0503020204020204" pitchFamily="34" charset="-122"/>
                <a:ea typeface="微软雅黑" panose="020B0503020204020204" pitchFamily="34" charset="-122"/>
              </a:rPr>
              <a:t>寻路方式优化</a:t>
            </a:r>
          </a:p>
        </p:txBody>
      </p:sp>
    </p:spTree>
    <p:extLst>
      <p:ext uri="{BB962C8B-B14F-4D97-AF65-F5344CB8AC3E}">
        <p14:creationId xmlns:p14="http://schemas.microsoft.com/office/powerpoint/2010/main" val="14452579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DB8C0-1986-5980-D589-BAC664DBD027}"/>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F71C618B-281B-20EC-8C00-A456AAA528CB}"/>
              </a:ext>
            </a:extLst>
          </p:cNvPr>
          <p:cNvSpPr/>
          <p:nvPr/>
        </p:nvSpPr>
        <p:spPr>
          <a:xfrm>
            <a:off x="453" y="-3852"/>
            <a:ext cx="12191547" cy="611864"/>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54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1" name="标题 20">
            <a:extLst>
              <a:ext uri="{FF2B5EF4-FFF2-40B4-BE49-F238E27FC236}">
                <a16:creationId xmlns:a16="http://schemas.microsoft.com/office/drawing/2014/main" id="{85D91ADC-04BA-95D9-E0DF-5415C8691E79}"/>
              </a:ext>
            </a:extLst>
          </p:cNvPr>
          <p:cNvSpPr>
            <a:spLocks noGrp="1"/>
          </p:cNvSpPr>
          <p:nvPr>
            <p:ph type="title"/>
          </p:nvPr>
        </p:nvSpPr>
        <p:spPr>
          <a:xfrm>
            <a:off x="2017111" y="608012"/>
            <a:ext cx="8344255" cy="1325563"/>
          </a:xfrm>
        </p:spPr>
        <p:txBody>
          <a:bodyPr>
            <a:normAutofit/>
          </a:bodyPr>
          <a:lstStyle/>
          <a:p>
            <a:r>
              <a:rPr lang="zh-CN" altLang="en-US" sz="2800" dirty="0">
                <a:latin typeface="楷体" panose="02010609060101010101" pitchFamily="49" charset="-122"/>
                <a:ea typeface="楷体" panose="02010609060101010101" pitchFamily="49" charset="-122"/>
              </a:rPr>
              <a:t>但是这样又会带来新的问题，四只鬼怪用相同的逻辑导致路线也相同，只有一条线追踪，趣味性低。</a:t>
            </a:r>
          </a:p>
        </p:txBody>
      </p:sp>
      <p:sp>
        <p:nvSpPr>
          <p:cNvPr id="22" name="矩形 21">
            <a:extLst>
              <a:ext uri="{FF2B5EF4-FFF2-40B4-BE49-F238E27FC236}">
                <a16:creationId xmlns:a16="http://schemas.microsoft.com/office/drawing/2014/main" id="{B57B21C1-738B-3ACA-C045-1899B763A96A}"/>
              </a:ext>
            </a:extLst>
          </p:cNvPr>
          <p:cNvSpPr/>
          <p:nvPr/>
        </p:nvSpPr>
        <p:spPr>
          <a:xfrm>
            <a:off x="0" y="6486716"/>
            <a:ext cx="12191547" cy="371283"/>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pic>
        <p:nvPicPr>
          <p:cNvPr id="2" name="单bfs——使用Clipchamp制作">
            <a:hlinkClick r:id="" action="ppaction://media"/>
            <a:extLst>
              <a:ext uri="{FF2B5EF4-FFF2-40B4-BE49-F238E27FC236}">
                <a16:creationId xmlns:a16="http://schemas.microsoft.com/office/drawing/2014/main" id="{7B0BBAA0-672C-43C4-1A8F-DC8F02754A75}"/>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017111" y="1793073"/>
            <a:ext cx="8344254" cy="4693643"/>
          </a:xfrm>
          <a:prstGeom prst="rect">
            <a:avLst/>
          </a:prstGeom>
        </p:spPr>
      </p:pic>
    </p:spTree>
    <p:extLst>
      <p:ext uri="{BB962C8B-B14F-4D97-AF65-F5344CB8AC3E}">
        <p14:creationId xmlns:p14="http://schemas.microsoft.com/office/powerpoint/2010/main" val="1191490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51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60C6F-0FAC-D4D1-0AF7-51B669609702}"/>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C9B10910-F3EB-E7D2-583E-9BDC1EA8AEB1}"/>
              </a:ext>
            </a:extLst>
          </p:cNvPr>
          <p:cNvSpPr/>
          <p:nvPr/>
        </p:nvSpPr>
        <p:spPr>
          <a:xfrm>
            <a:off x="453" y="-3852"/>
            <a:ext cx="12191547" cy="611864"/>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54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162D54FE-0265-716E-DAE6-1636FB7D1EBD}"/>
              </a:ext>
            </a:extLst>
          </p:cNvPr>
          <p:cNvSpPr/>
          <p:nvPr/>
        </p:nvSpPr>
        <p:spPr>
          <a:xfrm>
            <a:off x="0" y="6486716"/>
            <a:ext cx="12191547" cy="371283"/>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5" name="标题 4">
            <a:extLst>
              <a:ext uri="{FF2B5EF4-FFF2-40B4-BE49-F238E27FC236}">
                <a16:creationId xmlns:a16="http://schemas.microsoft.com/office/drawing/2014/main" id="{6EF5861E-BB2F-84B5-8CD8-4246DC3736B1}"/>
              </a:ext>
            </a:extLst>
          </p:cNvPr>
          <p:cNvSpPr>
            <a:spLocks noGrp="1"/>
          </p:cNvSpPr>
          <p:nvPr>
            <p:ph type="title"/>
          </p:nvPr>
        </p:nvSpPr>
        <p:spPr>
          <a:xfrm>
            <a:off x="2159000" y="993811"/>
            <a:ext cx="7620000" cy="1325563"/>
          </a:xfrm>
        </p:spPr>
        <p:txBody>
          <a:bodyPr>
            <a:normAutofit/>
          </a:bodyPr>
          <a:lstStyle/>
          <a:p>
            <a:r>
              <a:rPr lang="zh-CN" altLang="en-US" sz="2800" dirty="0">
                <a:latin typeface="楷体" panose="02010609060101010101" pitchFamily="49" charset="-122"/>
                <a:ea typeface="楷体" panose="02010609060101010101" pitchFamily="49" charset="-122"/>
              </a:rPr>
              <a:t>因此，我们通过随机和最短路的结合，使不同鬼怪的移动速度不一样，并且既能分散又能实现追逐玩家的效果。</a:t>
            </a:r>
          </a:p>
        </p:txBody>
      </p:sp>
      <p:pic>
        <p:nvPicPr>
          <p:cNvPr id="3" name="图片 2">
            <a:extLst>
              <a:ext uri="{FF2B5EF4-FFF2-40B4-BE49-F238E27FC236}">
                <a16:creationId xmlns:a16="http://schemas.microsoft.com/office/drawing/2014/main" id="{9D954D51-AF63-D72C-F5DD-2AA717409564}"/>
              </a:ext>
            </a:extLst>
          </p:cNvPr>
          <p:cNvPicPr>
            <a:picLocks noChangeAspect="1"/>
          </p:cNvPicPr>
          <p:nvPr/>
        </p:nvPicPr>
        <p:blipFill>
          <a:blip r:embed="rId2"/>
          <a:stretch>
            <a:fillRect/>
          </a:stretch>
        </p:blipFill>
        <p:spPr>
          <a:xfrm>
            <a:off x="356721" y="2685028"/>
            <a:ext cx="11478558" cy="2671232"/>
          </a:xfrm>
          <a:prstGeom prst="rect">
            <a:avLst/>
          </a:prstGeom>
        </p:spPr>
      </p:pic>
      <p:pic>
        <p:nvPicPr>
          <p:cNvPr id="4" name="图片 3">
            <a:extLst>
              <a:ext uri="{FF2B5EF4-FFF2-40B4-BE49-F238E27FC236}">
                <a16:creationId xmlns:a16="http://schemas.microsoft.com/office/drawing/2014/main" id="{375C14BF-CA91-329F-EDC0-FB9B74B7F66C}"/>
              </a:ext>
            </a:extLst>
          </p:cNvPr>
          <p:cNvPicPr>
            <a:picLocks noChangeAspect="1"/>
          </p:cNvPicPr>
          <p:nvPr/>
        </p:nvPicPr>
        <p:blipFill>
          <a:blip r:embed="rId3"/>
          <a:stretch>
            <a:fillRect/>
          </a:stretch>
        </p:blipFill>
        <p:spPr>
          <a:xfrm>
            <a:off x="5626089" y="3840757"/>
            <a:ext cx="424657" cy="318493"/>
          </a:xfrm>
          <a:prstGeom prst="rect">
            <a:avLst/>
          </a:prstGeom>
        </p:spPr>
      </p:pic>
    </p:spTree>
    <p:extLst>
      <p:ext uri="{BB962C8B-B14F-4D97-AF65-F5344CB8AC3E}">
        <p14:creationId xmlns:p14="http://schemas.microsoft.com/office/powerpoint/2010/main" val="2377163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78A81-AA3B-499C-7C21-AC0994DDBF25}"/>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5EF6ADBF-3A3B-F253-2D42-08F7018B796B}"/>
              </a:ext>
            </a:extLst>
          </p:cNvPr>
          <p:cNvSpPr/>
          <p:nvPr/>
        </p:nvSpPr>
        <p:spPr>
          <a:xfrm>
            <a:off x="453" y="-3852"/>
            <a:ext cx="12191547" cy="611864"/>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54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D4B40999-FEBB-6730-43EE-AA508F53468F}"/>
              </a:ext>
            </a:extLst>
          </p:cNvPr>
          <p:cNvSpPr/>
          <p:nvPr/>
        </p:nvSpPr>
        <p:spPr>
          <a:xfrm>
            <a:off x="0" y="6486716"/>
            <a:ext cx="12191547" cy="371283"/>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pic>
        <p:nvPicPr>
          <p:cNvPr id="8" name="无标题视频——使用Clipchamp制作 (2)">
            <a:hlinkClick r:id="" action="ppaction://media"/>
            <a:extLst>
              <a:ext uri="{FF2B5EF4-FFF2-40B4-BE49-F238E27FC236}">
                <a16:creationId xmlns:a16="http://schemas.microsoft.com/office/drawing/2014/main" id="{189D0817-81A1-C716-F62D-7F174952CE43}"/>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084495" y="1638510"/>
            <a:ext cx="7856694" cy="4419390"/>
          </a:xfrm>
          <a:prstGeom prst="rect">
            <a:avLst/>
          </a:prstGeom>
        </p:spPr>
      </p:pic>
      <p:sp>
        <p:nvSpPr>
          <p:cNvPr id="4" name="标题 3">
            <a:extLst>
              <a:ext uri="{FF2B5EF4-FFF2-40B4-BE49-F238E27FC236}">
                <a16:creationId xmlns:a16="http://schemas.microsoft.com/office/drawing/2014/main" id="{13691E2D-3449-1351-88C9-9F0B92202D7C}"/>
              </a:ext>
            </a:extLst>
          </p:cNvPr>
          <p:cNvSpPr>
            <a:spLocks noGrp="1"/>
          </p:cNvSpPr>
          <p:nvPr>
            <p:ph type="title"/>
          </p:nvPr>
        </p:nvSpPr>
        <p:spPr>
          <a:xfrm>
            <a:off x="4210050" y="608012"/>
            <a:ext cx="3734205" cy="1325563"/>
          </a:xfrm>
        </p:spPr>
        <p:txBody>
          <a:bodyPr>
            <a:normAutofit/>
          </a:bodyPr>
          <a:lstStyle/>
          <a:p>
            <a:r>
              <a:rPr lang="zh-CN" altLang="en-US" sz="2800" dirty="0">
                <a:latin typeface="楷体" panose="02010609060101010101" pitchFamily="49" charset="-122"/>
                <a:ea typeface="楷体" panose="02010609060101010101" pitchFamily="49" charset="-122"/>
              </a:rPr>
              <a:t>随机和最短路的结合</a:t>
            </a:r>
            <a:endParaRPr lang="zh-CN" altLang="en-US" sz="2800" dirty="0"/>
          </a:p>
        </p:txBody>
      </p:sp>
    </p:spTree>
    <p:extLst>
      <p:ext uri="{BB962C8B-B14F-4D97-AF65-F5344CB8AC3E}">
        <p14:creationId xmlns:p14="http://schemas.microsoft.com/office/powerpoint/2010/main" val="340701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87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8D077-8523-8FCE-EF7C-794A40E77B32}"/>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B32CD13E-1572-E9D7-21C6-62D084C9DA64}"/>
              </a:ext>
            </a:extLst>
          </p:cNvPr>
          <p:cNvPicPr>
            <a:picLocks noChangeAspect="1"/>
          </p:cNvPicPr>
          <p:nvPr/>
        </p:nvPicPr>
        <p:blipFill>
          <a:blip r:embed="rId2"/>
          <a:stretch>
            <a:fillRect/>
          </a:stretch>
        </p:blipFill>
        <p:spPr>
          <a:xfrm>
            <a:off x="194205" y="911103"/>
            <a:ext cx="9409675" cy="5575613"/>
          </a:xfrm>
          <a:prstGeom prst="rect">
            <a:avLst/>
          </a:prstGeom>
        </p:spPr>
      </p:pic>
      <p:sp>
        <p:nvSpPr>
          <p:cNvPr id="7" name="矩形 6">
            <a:extLst>
              <a:ext uri="{FF2B5EF4-FFF2-40B4-BE49-F238E27FC236}">
                <a16:creationId xmlns:a16="http://schemas.microsoft.com/office/drawing/2014/main" id="{EFE0B142-4322-DA93-3313-BBA19524BAC1}"/>
              </a:ext>
            </a:extLst>
          </p:cNvPr>
          <p:cNvSpPr/>
          <p:nvPr/>
        </p:nvSpPr>
        <p:spPr>
          <a:xfrm>
            <a:off x="453" y="-3852"/>
            <a:ext cx="12191547" cy="611864"/>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54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D57158C3-EB09-BA42-BB9F-7443E3DCED8B}"/>
              </a:ext>
            </a:extLst>
          </p:cNvPr>
          <p:cNvSpPr/>
          <p:nvPr/>
        </p:nvSpPr>
        <p:spPr>
          <a:xfrm>
            <a:off x="0" y="6486716"/>
            <a:ext cx="12191547" cy="371283"/>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4" name="标题 3">
            <a:extLst>
              <a:ext uri="{FF2B5EF4-FFF2-40B4-BE49-F238E27FC236}">
                <a16:creationId xmlns:a16="http://schemas.microsoft.com/office/drawing/2014/main" id="{431107EF-EF98-C9C8-1E0A-F98D4486B7F8}"/>
              </a:ext>
            </a:extLst>
          </p:cNvPr>
          <p:cNvSpPr>
            <a:spLocks noGrp="1"/>
          </p:cNvSpPr>
          <p:nvPr>
            <p:ph type="title"/>
          </p:nvPr>
        </p:nvSpPr>
        <p:spPr>
          <a:xfrm>
            <a:off x="3584447" y="759688"/>
            <a:ext cx="7113575" cy="1057275"/>
          </a:xfrm>
        </p:spPr>
        <p:txBody>
          <a:bodyPr>
            <a:normAutofit fontScale="90000"/>
          </a:bodyPr>
          <a:lstStyle/>
          <a:p>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此外，我们还参考原作，实现了鬼怪绕着障碍物巡航的更新逻辑和玩家无敌时逃跑的更新逻辑（反向的</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BFS</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25861878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3A1AE-8013-06DD-910A-B0B6A7171C67}"/>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C00494B8-5561-A082-E1C6-B290BA1F82DB}"/>
              </a:ext>
            </a:extLst>
          </p:cNvPr>
          <p:cNvSpPr/>
          <p:nvPr/>
        </p:nvSpPr>
        <p:spPr>
          <a:xfrm>
            <a:off x="453" y="-3852"/>
            <a:ext cx="12191547" cy="611864"/>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54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F3C12D54-03E8-AD9F-44CE-56099E9AA712}"/>
              </a:ext>
            </a:extLst>
          </p:cNvPr>
          <p:cNvSpPr/>
          <p:nvPr/>
        </p:nvSpPr>
        <p:spPr>
          <a:xfrm>
            <a:off x="0" y="6486716"/>
            <a:ext cx="12191547" cy="371283"/>
          </a:xfrm>
          <a:prstGeom prst="rect">
            <a:avLst/>
          </a:prstGeom>
          <a:gradFill flip="none" rotWithShape="1">
            <a:gsLst>
              <a:gs pos="0">
                <a:srgbClr val="01538B">
                  <a:shade val="30000"/>
                  <a:satMod val="115000"/>
                </a:srgbClr>
              </a:gs>
              <a:gs pos="50000">
                <a:srgbClr val="01538B">
                  <a:shade val="67500"/>
                  <a:satMod val="115000"/>
                </a:srgbClr>
              </a:gs>
              <a:gs pos="100000">
                <a:srgbClr val="01538B">
                  <a:shade val="100000"/>
                  <a:satMod val="115000"/>
                </a:srgb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D0D7702-E6D5-8161-E9B5-57500D221BE0}"/>
              </a:ext>
            </a:extLst>
          </p:cNvPr>
          <p:cNvPicPr>
            <a:picLocks noChangeAspect="1"/>
          </p:cNvPicPr>
          <p:nvPr/>
        </p:nvPicPr>
        <p:blipFill>
          <a:blip r:embed="rId3"/>
          <a:stretch>
            <a:fillRect/>
          </a:stretch>
        </p:blipFill>
        <p:spPr>
          <a:xfrm>
            <a:off x="178303" y="1027906"/>
            <a:ext cx="6128065" cy="5131064"/>
          </a:xfrm>
          <a:prstGeom prst="rect">
            <a:avLst/>
          </a:prstGeom>
        </p:spPr>
      </p:pic>
      <p:pic>
        <p:nvPicPr>
          <p:cNvPr id="12" name="图片 11">
            <a:extLst>
              <a:ext uri="{FF2B5EF4-FFF2-40B4-BE49-F238E27FC236}">
                <a16:creationId xmlns:a16="http://schemas.microsoft.com/office/drawing/2014/main" id="{312CAC5C-5B58-5495-2316-149727B147BC}"/>
              </a:ext>
            </a:extLst>
          </p:cNvPr>
          <p:cNvPicPr>
            <a:picLocks noChangeAspect="1"/>
          </p:cNvPicPr>
          <p:nvPr/>
        </p:nvPicPr>
        <p:blipFill>
          <a:blip r:embed="rId4"/>
          <a:stretch>
            <a:fillRect/>
          </a:stretch>
        </p:blipFill>
        <p:spPr>
          <a:xfrm>
            <a:off x="6042605" y="742141"/>
            <a:ext cx="6464632" cy="5702593"/>
          </a:xfrm>
          <a:prstGeom prst="rect">
            <a:avLst/>
          </a:prstGeom>
        </p:spPr>
      </p:pic>
    </p:spTree>
    <p:extLst>
      <p:ext uri="{BB962C8B-B14F-4D97-AF65-F5344CB8AC3E}">
        <p14:creationId xmlns:p14="http://schemas.microsoft.com/office/powerpoint/2010/main" val="251764760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1322</TotalTime>
  <Words>633</Words>
  <Application>Microsoft Office PowerPoint</Application>
  <PresentationFormat>宽屏</PresentationFormat>
  <Paragraphs>51</Paragraphs>
  <Slides>18</Slides>
  <Notes>1</Notes>
  <HiddenSlides>0</HiddenSlides>
  <MMClips>5</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18</vt:i4>
      </vt:variant>
    </vt:vector>
  </HeadingPairs>
  <TitlesOfParts>
    <vt:vector size="27" baseType="lpstr">
      <vt:lpstr>等线</vt:lpstr>
      <vt:lpstr>等线 Light</vt:lpstr>
      <vt:lpstr>楷体</vt:lpstr>
      <vt:lpstr>微软雅黑</vt:lpstr>
      <vt:lpstr>Aptos</vt:lpstr>
      <vt:lpstr>Arial</vt:lpstr>
      <vt:lpstr>Consolas</vt:lpstr>
      <vt:lpstr>Times New Roman</vt:lpstr>
      <vt:lpstr>Office 主题​​</vt:lpstr>
      <vt:lpstr>基于Eaxyx库的C++吃豆人小游戏  </vt:lpstr>
      <vt:lpstr>1. EasyX库简介</vt:lpstr>
      <vt:lpstr>EasyX Graphics Library 是针对 Visual C++ 的免费绘图库，支持 VC6.0 ~ VS2022，简单易用，学习成本极低，应用领域广泛。  EasyX提供了绘图、文字处理、消息处理、图片处理等诸多功能的函数，使用时需引用 graphics.h 或 easyx.h 头文件。 具体用法参见官方文档： https://docs.easyx.cn/zh-cn/intro </vt:lpstr>
      <vt:lpstr>游戏主体为简单的的吃豆人玩法，包含玩家（player）、鬼怪（ghost）、地图（map）等元素。 在游戏中，玩家需要吃掉所有豆子来获得胜利，同时也要躲避鬼怪的追捕。游戏设有三个不同难度，不同难度的鬼怪速度，玩家生命有所不同。 游戏中同时设有超级豆，在吃掉超级豆后的 5s 内，玩家进入无敌状态，同时鬼怪会“害怕”而远离玩家。</vt:lpstr>
      <vt:lpstr>mover基类，其中包含纯虚函数update()， 由派生类重写</vt:lpstr>
      <vt:lpstr>派生类Player</vt:lpstr>
      <vt:lpstr>派生类Ghost</vt:lpstr>
      <vt:lpstr>游戏主要逻辑如下：</vt:lpstr>
      <vt:lpstr>如果使用传统的绘制流程，会经历如下步骤： 清空屏幕-&gt;绘制地图-&gt;绘制角色-&gt;绘制鬼怪， 且都在一个窗口上执行。 在这过程中很容易看到绘制的中间状态，即导致画面闪烁。  而双缓冲则在后台另外开辟了一个缓冲区，将所有内容先绘制到这个缓冲区内，再将缓冲区整体搬到展示的窗口上。  EasyX提供了 BeginBatchDraw() 和 EndBatchDraw() 这两个函数，便捷地实现了双缓冲。</vt:lpstr>
      <vt:lpstr>PowerPoint 演示文稿</vt:lpstr>
      <vt:lpstr>首先是最朴素的想法，随机寻路，但这样就像无头苍蝇，几乎不会碰到player。</vt:lpstr>
      <vt:lpstr>随机寻路</vt:lpstr>
      <vt:lpstr>为了解决这个问题，我们引入了BFS（广度优先搜索）算法，用于搜索鬼怪到玩家的最短路及下一步的方向。 </vt:lpstr>
      <vt:lpstr>但是这样又会带来新的问题，四只鬼怪用相同的逻辑导致路线也相同，只有一条线追踪，趣味性低。</vt:lpstr>
      <vt:lpstr>因此，我们通过随机和最短路的结合，使不同鬼怪的移动速度不一样，并且既能分散又能实现追逐玩家的效果。</vt:lpstr>
      <vt:lpstr>随机和最短路的结合</vt:lpstr>
      <vt:lpstr>此外，我们还参考原作，实现了鬼怪绕着障碍物巡航的更新逻辑和玩家无敌时逃跑的更新逻辑（反向的BFS）</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滔 杨</dc:creator>
  <cp:lastModifiedBy>滔 杨</cp:lastModifiedBy>
  <cp:revision>13</cp:revision>
  <dcterms:created xsi:type="dcterms:W3CDTF">2025-05-31T11:09:00Z</dcterms:created>
  <dcterms:modified xsi:type="dcterms:W3CDTF">2025-06-03T04:47:00Z</dcterms:modified>
</cp:coreProperties>
</file>